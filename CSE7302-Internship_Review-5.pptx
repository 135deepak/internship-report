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9" r:id="rId2"/>
    <p:sldId id="260" r:id="rId3"/>
    <p:sldId id="261" r:id="rId4"/>
    <p:sldId id="262" r:id="rId5"/>
    <p:sldId id="263" r:id="rId6"/>
    <p:sldId id="264" r:id="rId7"/>
    <p:sldId id="265" r:id="rId8"/>
    <p:sldId id="270" r:id="rId9"/>
    <p:sldId id="272" r:id="rId10"/>
    <p:sldId id="271" r:id="rId11"/>
    <p:sldId id="273" r:id="rId12"/>
    <p:sldId id="266" r:id="rId13"/>
    <p:sldId id="276" r:id="rId14"/>
    <p:sldId id="274" r:id="rId15"/>
    <p:sldId id="275" r:id="rId16"/>
    <p:sldId id="267" r:id="rId17"/>
    <p:sldId id="268" r:id="rId18"/>
    <p:sldId id="26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2BE31D-A805-4374-A802-C65F02E28BCD}" v="23" dt="2024-12-11T08:31:31.5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4" autoAdjust="0"/>
    <p:restoredTop sz="94660"/>
  </p:normalViewPr>
  <p:slideViewPr>
    <p:cSldViewPr snapToGrid="0">
      <p:cViewPr varScale="1">
        <p:scale>
          <a:sx n="88" d="100"/>
          <a:sy n="88" d="100"/>
        </p:scale>
        <p:origin x="60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smtClean="0">
              <a:latin typeface="Times New Roman" panose="02020603050405020304" pitchFamily="18" charset="0"/>
              <a:cs typeface="Times New Roman" panose="02020603050405020304" pitchFamily="18" charset="0"/>
            </a:rPr>
            <a:t>Review 1</a:t>
          </a:r>
          <a:endParaRPr lang="en-US" dirty="0">
            <a:latin typeface="Times New Roman" panose="02020603050405020304" pitchFamily="18" charset="0"/>
            <a:cs typeface="Times New Roman" panose="02020603050405020304" pitchFamily="18" charset="0"/>
          </a:endParaRP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custT="1"/>
      <dgm:spPr/>
      <dgm:t>
        <a:bodyPr/>
        <a:lstStyle/>
        <a:p>
          <a:pPr algn="l"/>
          <a:r>
            <a:rPr lang="en-US" sz="2000" dirty="0" smtClean="0">
              <a:latin typeface="Times New Roman" panose="02020603050405020304" pitchFamily="18" charset="0"/>
              <a:cs typeface="Times New Roman" panose="02020603050405020304" pitchFamily="18" charset="0"/>
            </a:rPr>
            <a:t>Core Java, </a:t>
          </a:r>
          <a:r>
            <a:rPr lang="en-US" sz="1800" dirty="0" smtClean="0">
              <a:latin typeface="Times New Roman" panose="02020603050405020304" pitchFamily="18" charset="0"/>
              <a:cs typeface="Times New Roman" panose="02020603050405020304" pitchFamily="18" charset="0"/>
            </a:rPr>
            <a:t>HTML</a:t>
          </a:r>
          <a:r>
            <a:rPr lang="en-US" sz="2000" dirty="0" smtClean="0">
              <a:latin typeface="Times New Roman" panose="02020603050405020304" pitchFamily="18" charset="0"/>
              <a:cs typeface="Times New Roman" panose="02020603050405020304" pitchFamily="18" charset="0"/>
            </a:rPr>
            <a:t>, CSS basics</a:t>
          </a:r>
          <a:endParaRPr lang="en-US" sz="2000" dirty="0">
            <a:latin typeface="Times New Roman" panose="02020603050405020304" pitchFamily="18" charset="0"/>
            <a:cs typeface="Times New Roman" panose="02020603050405020304" pitchFamily="18" charset="0"/>
          </a:endParaRP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smtClean="0">
              <a:latin typeface="Times New Roman" panose="02020603050405020304" pitchFamily="18" charset="0"/>
              <a:cs typeface="Times New Roman" panose="02020603050405020304" pitchFamily="18" charset="0"/>
            </a:rPr>
            <a:t>Review 2</a:t>
          </a:r>
          <a:endParaRPr lang="en-US" dirty="0">
            <a:latin typeface="Times New Roman" panose="02020603050405020304" pitchFamily="18" charset="0"/>
            <a:cs typeface="Times New Roman" panose="02020603050405020304" pitchFamily="18" charset="0"/>
          </a:endParaRP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custT="1"/>
      <dgm:spPr/>
      <dgm:t>
        <a:bodyPr/>
        <a:lstStyle/>
        <a:p>
          <a:pPr algn="l"/>
          <a:endParaRPr lang="en-US" sz="1800" dirty="0">
            <a:latin typeface="Times New Roman" panose="02020603050405020304" pitchFamily="18" charset="0"/>
            <a:cs typeface="Times New Roman" panose="02020603050405020304" pitchFamily="18" charset="0"/>
          </a:endParaRP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smtClean="0">
              <a:latin typeface="Times New Roman" panose="02020603050405020304" pitchFamily="18" charset="0"/>
              <a:cs typeface="Times New Roman" panose="02020603050405020304" pitchFamily="18" charset="0"/>
            </a:rPr>
            <a:t>Review 3</a:t>
          </a:r>
          <a:endParaRPr lang="en-US" dirty="0">
            <a:latin typeface="Times New Roman" panose="02020603050405020304" pitchFamily="18" charset="0"/>
            <a:cs typeface="Times New Roman" panose="02020603050405020304" pitchFamily="18" charset="0"/>
          </a:endParaRP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custT="1"/>
      <dgm:spPr/>
      <dgm:t>
        <a:bodyPr/>
        <a:lstStyle/>
        <a:p>
          <a:pPr algn="l"/>
          <a:endParaRPr lang="en-US" sz="2000" dirty="0">
            <a:latin typeface="Times New Roman" panose="02020603050405020304" pitchFamily="18" charset="0"/>
            <a:cs typeface="Times New Roman" panose="02020603050405020304" pitchFamily="18" charset="0"/>
          </a:endParaRP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smtClean="0">
              <a:latin typeface="Times New Roman" panose="02020603050405020304" pitchFamily="18" charset="0"/>
              <a:cs typeface="Times New Roman" panose="02020603050405020304" pitchFamily="18" charset="0"/>
            </a:rPr>
            <a:t>Review 4</a:t>
          </a:r>
          <a:endParaRPr lang="en-US" dirty="0">
            <a:latin typeface="Times New Roman" panose="02020603050405020304" pitchFamily="18" charset="0"/>
            <a:cs typeface="Times New Roman" panose="02020603050405020304" pitchFamily="18" charset="0"/>
          </a:endParaRP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65C051F6-A849-4495-A964-CD4C650B9C06}">
      <dgm:prSet phldrT="[Text]"/>
      <dgm:spPr/>
      <dgm:t>
        <a:bodyPr/>
        <a:lstStyle/>
        <a:p>
          <a:r>
            <a:rPr lang="en-US" dirty="0" smtClean="0">
              <a:latin typeface="Times New Roman" panose="02020603050405020304" pitchFamily="18" charset="0"/>
              <a:cs typeface="Times New Roman" panose="02020603050405020304" pitchFamily="18" charset="0"/>
            </a:rPr>
            <a:t>Final Review</a:t>
          </a:r>
          <a:endParaRPr lang="en-US" dirty="0">
            <a:latin typeface="Times New Roman" panose="02020603050405020304" pitchFamily="18" charset="0"/>
            <a:cs typeface="Times New Roman" panose="02020603050405020304" pitchFamily="18" charset="0"/>
          </a:endParaRP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F89B0757-982C-4F5E-B4F3-B79021DEA94B}">
      <dgm:prSet custT="1"/>
      <dgm:spPr/>
      <dgm:t>
        <a:bodyPr/>
        <a:lstStyle/>
        <a:p>
          <a:pPr algn="l"/>
          <a:r>
            <a:rPr lang="en-US" sz="1800" dirty="0">
              <a:latin typeface="Times New Roman" panose="02020603050405020304" pitchFamily="18" charset="0"/>
              <a:cs typeface="Times New Roman" panose="02020603050405020304" pitchFamily="18" charset="0"/>
            </a:rPr>
            <a:t>JavaScript, SQL, Database Handling</a:t>
          </a:r>
        </a:p>
      </dgm:t>
    </dgm:pt>
    <dgm:pt modelId="{F0DABE2D-18E9-4031-BF6B-D778B22AD859}" type="parTrans" cxnId="{9571504A-049E-4F79-B93C-1CDD1B52FA35}">
      <dgm:prSet/>
      <dgm:spPr/>
      <dgm:t>
        <a:bodyPr/>
        <a:lstStyle/>
        <a:p>
          <a:endParaRPr lang="en-US"/>
        </a:p>
      </dgm:t>
    </dgm:pt>
    <dgm:pt modelId="{CE51DA9B-2535-41DA-BFC8-386915F86000}" type="sibTrans" cxnId="{9571504A-049E-4F79-B93C-1CDD1B52FA35}">
      <dgm:prSet/>
      <dgm:spPr/>
      <dgm:t>
        <a:bodyPr/>
        <a:lstStyle/>
        <a:p>
          <a:endParaRPr lang="en-US"/>
        </a:p>
      </dgm:t>
    </dgm:pt>
    <dgm:pt modelId="{BBAEEADC-60A3-4F79-A1CD-6EDDCB553580}">
      <dgm:prSet custT="1"/>
      <dgm:spPr/>
      <dgm:t>
        <a:bodyPr/>
        <a:lstStyle/>
        <a:p>
          <a:pPr algn="l"/>
          <a:r>
            <a:rPr lang="en-US" sz="2000" dirty="0">
              <a:latin typeface="Times New Roman" panose="02020603050405020304" pitchFamily="18" charset="0"/>
              <a:cs typeface="Times New Roman" panose="02020603050405020304" pitchFamily="18" charset="0"/>
            </a:rPr>
            <a:t>Full Stack Project Development</a:t>
          </a:r>
        </a:p>
      </dgm:t>
    </dgm:pt>
    <dgm:pt modelId="{6334BAD6-947B-45FB-AB68-018A1982B517}" type="parTrans" cxnId="{87CE19EF-0C01-4255-9B67-E27FD4FA638A}">
      <dgm:prSet/>
      <dgm:spPr/>
      <dgm:t>
        <a:bodyPr/>
        <a:lstStyle/>
        <a:p>
          <a:endParaRPr lang="en-US"/>
        </a:p>
      </dgm:t>
    </dgm:pt>
    <dgm:pt modelId="{F1F800F4-DC51-42FB-9DFC-637045F7A8FD}" type="sibTrans" cxnId="{87CE19EF-0C01-4255-9B67-E27FD4FA638A}">
      <dgm:prSet/>
      <dgm:spPr/>
      <dgm:t>
        <a:bodyPr/>
        <a:lstStyle/>
        <a:p>
          <a:endParaRPr lang="en-US"/>
        </a:p>
      </dgm:t>
    </dgm:pt>
    <dgm:pt modelId="{BF0F5C01-D5AF-43F9-8603-C6B1C1C09F28}">
      <dgm:prSet custT="1"/>
      <dgm:spPr/>
      <dgm:t>
        <a:bodyPr/>
        <a:lstStyle/>
        <a:p>
          <a:pPr algn="l"/>
          <a:r>
            <a:rPr lang="en-US" sz="2000" smtClean="0">
              <a:latin typeface="Times New Roman" panose="02020603050405020304" pitchFamily="18" charset="0"/>
              <a:cs typeface="Times New Roman" panose="02020603050405020304" pitchFamily="18" charset="0"/>
            </a:rPr>
            <a:t>AI-Agentic Coding and Advanced Modules</a:t>
          </a:r>
          <a:endParaRPr lang="en-US" sz="2000">
            <a:latin typeface="Times New Roman" panose="02020603050405020304" pitchFamily="18" charset="0"/>
            <a:cs typeface="Times New Roman" panose="02020603050405020304" pitchFamily="18" charset="0"/>
          </a:endParaRPr>
        </a:p>
      </dgm:t>
    </dgm:pt>
    <dgm:pt modelId="{4AF35373-4D9C-4137-87DB-9CEB389292C3}" type="parTrans" cxnId="{8FB1959D-0B1B-4473-AC72-5E8FCBD474F0}">
      <dgm:prSet/>
      <dgm:spPr/>
      <dgm:t>
        <a:bodyPr/>
        <a:lstStyle/>
        <a:p>
          <a:endParaRPr lang="en-US"/>
        </a:p>
      </dgm:t>
    </dgm:pt>
    <dgm:pt modelId="{3ED63EFE-7A85-414E-8957-9D7E0A2B02B1}" type="sibTrans" cxnId="{8FB1959D-0B1B-4473-AC72-5E8FCBD474F0}">
      <dgm:prSet/>
      <dgm:spPr/>
      <dgm:t>
        <a:bodyPr/>
        <a:lstStyle/>
        <a:p>
          <a:endParaRPr lang="en-US"/>
        </a:p>
      </dgm:t>
    </dgm:pt>
    <dgm:pt modelId="{0EA27F18-066F-4F05-8FD6-9A77E2CA7B86}">
      <dgm:prSet custT="1"/>
      <dgm:spPr/>
      <dgm:t>
        <a:bodyPr/>
        <a:lstStyle/>
        <a:p>
          <a:pPr algn="l"/>
          <a:r>
            <a:rPr lang="en-US" sz="2000" smtClean="0">
              <a:latin typeface="Times New Roman" panose="02020603050405020304" pitchFamily="18" charset="0"/>
              <a:cs typeface="Times New Roman" panose="02020603050405020304" pitchFamily="18" charset="0"/>
            </a:rPr>
            <a:t>Final Project, Placement Readiness &amp; Evaluation</a:t>
          </a:r>
          <a:endParaRPr lang="en-US" sz="2000">
            <a:latin typeface="Times New Roman" panose="02020603050405020304" pitchFamily="18" charset="0"/>
            <a:cs typeface="Times New Roman" panose="02020603050405020304" pitchFamily="18" charset="0"/>
          </a:endParaRPr>
        </a:p>
      </dgm:t>
    </dgm:pt>
    <dgm:pt modelId="{81F97F26-20F6-4767-BBB0-AD94D89C77F5}" type="parTrans" cxnId="{CCF69CD8-A115-42E7-B934-2E5BE4B45BAF}">
      <dgm:prSet/>
      <dgm:spPr/>
      <dgm:t>
        <a:bodyPr/>
        <a:lstStyle/>
        <a:p>
          <a:endParaRPr lang="en-US"/>
        </a:p>
      </dgm:t>
    </dgm:pt>
    <dgm:pt modelId="{397275D0-F8C2-4B54-8160-119BB409C6FA}" type="sibTrans" cxnId="{CCF69CD8-A115-42E7-B934-2E5BE4B45BAF}">
      <dgm:prSet/>
      <dgm:spPr/>
      <dgm:t>
        <a:bodyPr/>
        <a:lstStyle/>
        <a:p>
          <a:endParaRPr lang="en-US"/>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t>
        <a:bodyPr/>
        <a:lstStyle/>
        <a:p>
          <a:endParaRPr lang="en-US"/>
        </a:p>
      </dgm:t>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custScaleX="113913"/>
      <dgm:spPr/>
      <dgm:t>
        <a:bodyPr/>
        <a:lstStyle/>
        <a:p>
          <a:endParaRPr lang="en-US"/>
        </a:p>
      </dgm:t>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t>
        <a:bodyPr/>
        <a:lstStyle/>
        <a:p>
          <a:endParaRPr lang="en-US"/>
        </a:p>
      </dgm:t>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t>
        <a:bodyPr/>
        <a:lstStyle/>
        <a:p>
          <a:endParaRPr lang="en-US"/>
        </a:p>
      </dgm:t>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t>
        <a:bodyPr/>
        <a:lstStyle/>
        <a:p>
          <a:endParaRPr lang="en-US"/>
        </a:p>
      </dgm:t>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t>
        <a:bodyPr/>
        <a:lstStyle/>
        <a:p>
          <a:endParaRPr lang="en-US"/>
        </a:p>
      </dgm:t>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t>
        <a:bodyPr/>
        <a:lstStyle/>
        <a:p>
          <a:endParaRPr lang="en-US"/>
        </a:p>
      </dgm:t>
    </dgm:pt>
    <dgm:pt modelId="{96AFCF47-32CA-4C44-9E3C-782007B7112E}" type="pres">
      <dgm:prSet presAssocID="{A59EC69B-8F3F-425B-819F-E8C557946AEE}" presName="ChildAccent3" presStyleCnt="0"/>
      <dgm:spPr/>
      <dgm:t>
        <a:bodyPr/>
        <a:lstStyle/>
        <a:p>
          <a:endParaRPr lang="en-US"/>
        </a:p>
      </dgm:t>
    </dgm:pt>
    <dgm:pt modelId="{2532504F-5FE1-4C97-B485-F05E8885EACC}" type="pres">
      <dgm:prSet presAssocID="{A59EC69B-8F3F-425B-819F-E8C557946AEE}" presName="ChildAccent" presStyleLbl="alignImgPlace1" presStyleIdx="2" presStyleCnt="5"/>
      <dgm:spPr/>
      <dgm:t>
        <a:bodyPr/>
        <a:lstStyle/>
        <a:p>
          <a:endParaRPr lang="en-US"/>
        </a:p>
      </dgm:t>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t>
        <a:bodyPr/>
        <a:lstStyle/>
        <a:p>
          <a:endParaRPr lang="en-US"/>
        </a:p>
      </dgm:t>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t>
        <a:bodyPr/>
        <a:lstStyle/>
        <a:p>
          <a:endParaRPr lang="en-US"/>
        </a:p>
      </dgm:t>
    </dgm:pt>
    <dgm:pt modelId="{C1269CE6-C767-48CC-AAFD-A238D1FFDABA}" type="pres">
      <dgm:prSet presAssocID="{7B3055AA-BF7C-46D0-9A9E-60087B9F57B4}" presName="ChildAccent2" presStyleCnt="0"/>
      <dgm:spPr/>
      <dgm:t>
        <a:bodyPr/>
        <a:lstStyle/>
        <a:p>
          <a:endParaRPr lang="en-US"/>
        </a:p>
      </dgm:t>
    </dgm:pt>
    <dgm:pt modelId="{06F8D57B-EDF4-4CF4-8700-DC2CA3E3028E}" type="pres">
      <dgm:prSet presAssocID="{7B3055AA-BF7C-46D0-9A9E-60087B9F57B4}" presName="ChildAccent" presStyleLbl="alignImgPlace1" presStyleIdx="3" presStyleCnt="5"/>
      <dgm:spPr/>
      <dgm:t>
        <a:bodyPr/>
        <a:lstStyle/>
        <a:p>
          <a:endParaRPr lang="en-US"/>
        </a:p>
      </dgm:t>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t>
        <a:bodyPr/>
        <a:lstStyle/>
        <a:p>
          <a:endParaRPr lang="en-US"/>
        </a:p>
      </dgm:t>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t>
        <a:bodyPr/>
        <a:lstStyle/>
        <a:p>
          <a:endParaRPr lang="en-US"/>
        </a:p>
      </dgm:t>
    </dgm:pt>
    <dgm:pt modelId="{7305DF14-0FF5-45E4-8B19-015814092DBD}" type="pres">
      <dgm:prSet presAssocID="{988D96B0-D16E-4763-B393-84178CF4FF50}" presName="ChildAccent1" presStyleCnt="0"/>
      <dgm:spPr/>
      <dgm:t>
        <a:bodyPr/>
        <a:lstStyle/>
        <a:p>
          <a:endParaRPr lang="en-US"/>
        </a:p>
      </dgm:t>
    </dgm:pt>
    <dgm:pt modelId="{A134CDD1-D85F-44EF-8BEE-9F99A855C1E6}" type="pres">
      <dgm:prSet presAssocID="{988D96B0-D16E-4763-B393-84178CF4FF50}" presName="ChildAccent" presStyleLbl="alignImgPlace1" presStyleIdx="4" presStyleCnt="5"/>
      <dgm:spPr/>
      <dgm:t>
        <a:bodyPr/>
        <a:lstStyle/>
        <a:p>
          <a:endParaRPr lang="en-US"/>
        </a:p>
      </dgm:t>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t>
        <a:bodyPr/>
        <a:lstStyle/>
        <a:p>
          <a:endParaRPr lang="en-US"/>
        </a:p>
      </dgm:t>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t>
        <a:bodyPr/>
        <a:lstStyle/>
        <a:p>
          <a:endParaRPr lang="en-US"/>
        </a:p>
      </dgm:t>
    </dgm:pt>
  </dgm:ptLst>
  <dgm:cxnLst>
    <dgm:cxn modelId="{A6532C16-AFEE-4EEA-891E-F5DAB7412E13}" type="presOf" srcId="{73DB572E-062D-41AD-8033-D361B8E583DB}" destId="{2532504F-5FE1-4C97-B485-F05E8885EACC}" srcOrd="0" destOrd="0" presId="urn:microsoft.com/office/officeart/2011/layout/InterconnectedBlockProcess"/>
    <dgm:cxn modelId="{D1BA1DD0-A52A-47BF-962D-9810C87E1576}" srcId="{5751524B-FB67-4894-A0C5-35151E149D68}" destId="{A59EC69B-8F3F-425B-819F-E8C557946AEE}" srcOrd="2" destOrd="0" parTransId="{0095C3CB-916F-4060-A8DA-DD282FB51587}" sibTransId="{2868AD8D-4E38-46CE-A972-709857BF40AC}"/>
    <dgm:cxn modelId="{CE04E6A8-8508-4D96-A2F8-BF1CAD769356}" type="presOf" srcId="{BBAEEADC-60A3-4F79-A1CD-6EDDCB553580}" destId="{2532504F-5FE1-4C97-B485-F05E8885EACC}" srcOrd="0" destOrd="1" presId="urn:microsoft.com/office/officeart/2011/layout/InterconnectedBlockProcess"/>
    <dgm:cxn modelId="{ABAF6EAD-D06E-4FBC-AFE6-70FB7AADF403}" type="presOf" srcId="{F89B0757-982C-4F5E-B4F3-B79021DEA94B}" destId="{06F8D57B-EDF4-4CF4-8700-DC2CA3E3028E}" srcOrd="0" destOrd="1"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BD4D063F-4481-4272-86B1-D2EA110CC162}" type="presOf" srcId="{73DB572E-062D-41AD-8033-D361B8E583DB}" destId="{0D08ED52-6744-4369-B780-916B09984775}" srcOrd="1" destOrd="0" presId="urn:microsoft.com/office/officeart/2011/layout/InterconnectedBlockProcess"/>
    <dgm:cxn modelId="{E8CF695E-C6BC-4EC7-BC96-608641215788}" type="presOf" srcId="{BBAEEADC-60A3-4F79-A1CD-6EDDCB553580}" destId="{0D08ED52-6744-4369-B780-916B09984775}" srcOrd="1" destOrd="1" presId="urn:microsoft.com/office/officeart/2011/layout/InterconnectedBlockProcess"/>
    <dgm:cxn modelId="{AEE28BEF-3F73-41A5-9307-D42A450FCA17}" srcId="{988D96B0-D16E-4763-B393-84178CF4FF50}" destId="{D471E45F-B026-44AA-9616-57E786AE80AF}" srcOrd="0" destOrd="0" parTransId="{326A986D-69A4-4AC0-AD9B-462FFC9C3F18}" sibTransId="{304E70AD-39C7-4C28-BF7B-6EE91BAE97B7}"/>
    <dgm:cxn modelId="{DA8CD5E8-B2EE-41E4-8EC6-CFB41D688F68}" srcId="{5751524B-FB67-4894-A0C5-35151E149D68}" destId="{5E92505A-51E0-4F78-B3C5-704ACF8710DE}" srcOrd="3" destOrd="0" parTransId="{765B1266-7CE2-4F9C-AE38-D97DFBC1B151}" sibTransId="{5E9E6A6F-635A-4791-A107-01E95B62EA08}"/>
    <dgm:cxn modelId="{DCBBD912-689F-4398-945B-50D7C906D480}" type="presOf" srcId="{65C051F6-A849-4495-A964-CD4C650B9C06}" destId="{C73DE52A-2F45-45E6-AD0E-D5BEAF609F8E}" srcOrd="0" destOrd="0" presId="urn:microsoft.com/office/officeart/2011/layout/InterconnectedBlockProcess"/>
    <dgm:cxn modelId="{D95A05E5-1205-4AD1-9AA3-74CA7A4B9EF2}" type="presOf" srcId="{9FED87C4-3F3B-4A18-9185-9F80CFEDEA2E}" destId="{6BCCFBA6-7A43-4631-AD7F-AFB10E1E6CD7}" srcOrd="1" destOrd="0" presId="urn:microsoft.com/office/officeart/2011/layout/InterconnectedBlockProcess"/>
    <dgm:cxn modelId="{521FD508-C5FD-4804-AFDC-D1FF9945B211}" srcId="{5751524B-FB67-4894-A0C5-35151E149D68}" destId="{65C051F6-A849-4495-A964-CD4C650B9C06}" srcOrd="4" destOrd="0" parTransId="{C24738E5-1547-4D8D-A2CE-64D703ECDF78}" sibTransId="{196A2EB9-DD96-4630-B699-7AF000340374}"/>
    <dgm:cxn modelId="{5C3C918A-4C4A-4DEB-924A-CC330C09FB27}" type="presOf" srcId="{5E92505A-51E0-4F78-B3C5-704ACF8710DE}" destId="{2AAD338D-3122-4454-9A67-16BE024D44E3}" srcOrd="0" destOrd="0" presId="urn:microsoft.com/office/officeart/2011/layout/InterconnectedBlockProcess"/>
    <dgm:cxn modelId="{87CE19EF-0C01-4255-9B67-E27FD4FA638A}" srcId="{A59EC69B-8F3F-425B-819F-E8C557946AEE}" destId="{BBAEEADC-60A3-4F79-A1CD-6EDDCB553580}" srcOrd="1" destOrd="0" parTransId="{6334BAD6-947B-45FB-AB68-018A1982B517}" sibTransId="{F1F800F4-DC51-42FB-9DFC-637045F7A8FD}"/>
    <dgm:cxn modelId="{8CB593F6-6C5D-4606-B959-3E27F9872EC1}" srcId="{5751524B-FB67-4894-A0C5-35151E149D68}" destId="{988D96B0-D16E-4763-B393-84178CF4FF50}" srcOrd="0" destOrd="0" parTransId="{080A6B9D-C27D-4227-AC65-3C97878D78C4}" sibTransId="{19B27CEC-4BAD-44A7-A9A7-B7A8B23ADCFD}"/>
    <dgm:cxn modelId="{56F3F0BD-940E-43BA-95C6-2A28B8DBD17C}" type="presOf" srcId="{0EA27F18-066F-4F05-8FD6-9A77E2CA7B86}" destId="{928B615F-0F8D-4140-A638-0FBB8F5BF1E9}" srcOrd="1"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CCF69CD8-A115-42E7-B934-2E5BE4B45BAF}" srcId="{65C051F6-A849-4495-A964-CD4C650B9C06}" destId="{0EA27F18-066F-4F05-8FD6-9A77E2CA7B86}" srcOrd="0" destOrd="0" parTransId="{81F97F26-20F6-4767-BBB0-AD94D89C77F5}" sibTransId="{397275D0-F8C2-4B54-8160-119BB409C6FA}"/>
    <dgm:cxn modelId="{6C7D4BBB-EED6-4011-9FBC-87F683D5B245}" srcId="{5751524B-FB67-4894-A0C5-35151E149D68}" destId="{7B3055AA-BF7C-46D0-9A9E-60087B9F57B4}" srcOrd="1" destOrd="0" parTransId="{F772EF41-D2BB-4368-8327-B4E332165F48}" sibTransId="{B81593E2-4CAC-4783-8D2D-E9DDD236A942}"/>
    <dgm:cxn modelId="{58E76652-C24F-44B0-96A9-DDF4DA4C870A}" type="presOf" srcId="{7B3055AA-BF7C-46D0-9A9E-60087B9F57B4}" destId="{00BB3360-A9BB-4051-A4B1-1216F82F642C}" srcOrd="0" destOrd="0" presId="urn:microsoft.com/office/officeart/2011/layout/InterconnectedBlockProcess"/>
    <dgm:cxn modelId="{940B4C9B-D5E4-4E48-A872-B455F86EA2F7}" type="presOf" srcId="{D471E45F-B026-44AA-9616-57E786AE80AF}" destId="{1C91D7E3-8940-4A33-9182-677DD5415901}" srcOrd="1"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E6B70501-CFCB-4D4A-94BE-F63036069196}" type="presOf" srcId="{5751524B-FB67-4894-A0C5-35151E149D68}" destId="{A6BCDA7B-D633-438F-B44D-CB4D60E5C492}" srcOrd="0" destOrd="0" presId="urn:microsoft.com/office/officeart/2011/layout/InterconnectedBlockProcess"/>
    <dgm:cxn modelId="{DB74FFAE-8E03-41AE-89BA-6CDBCCDB9934}" type="presOf" srcId="{BF0F5C01-D5AF-43F9-8603-C6B1C1C09F28}" destId="{98225A61-A0EC-450A-BED8-EF2E47E8FD18}" srcOrd="1" destOrd="0" presId="urn:microsoft.com/office/officeart/2011/layout/InterconnectedBlockProcess"/>
    <dgm:cxn modelId="{946B973B-7CB6-48C4-A03A-8A8A9FFDCACD}" type="presOf" srcId="{F89B0757-982C-4F5E-B4F3-B79021DEA94B}" destId="{6BCCFBA6-7A43-4631-AD7F-AFB10E1E6CD7}" srcOrd="1" destOrd="1" presId="urn:microsoft.com/office/officeart/2011/layout/InterconnectedBlockProcess"/>
    <dgm:cxn modelId="{8FB1959D-0B1B-4473-AC72-5E8FCBD474F0}" srcId="{5E92505A-51E0-4F78-B3C5-704ACF8710DE}" destId="{BF0F5C01-D5AF-43F9-8603-C6B1C1C09F28}" srcOrd="0" destOrd="0" parTransId="{4AF35373-4D9C-4137-87DB-9CEB389292C3}" sibTransId="{3ED63EFE-7A85-414E-8957-9D7E0A2B02B1}"/>
    <dgm:cxn modelId="{E94CD512-E47E-4B2A-8B42-1BBD0CE921B4}" type="presOf" srcId="{D471E45F-B026-44AA-9616-57E786AE80AF}" destId="{A134CDD1-D85F-44EF-8BEE-9F99A855C1E6}" srcOrd="0"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7F8F98D9-5E43-4B78-AC28-03EB59A26D8B}" type="presOf" srcId="{0EA27F18-066F-4F05-8FD6-9A77E2CA7B86}" destId="{8CAE5A4D-0C7B-48A6-917B-0B8433D0574B}" srcOrd="0" destOrd="0" presId="urn:microsoft.com/office/officeart/2011/layout/InterconnectedBlockProcess"/>
    <dgm:cxn modelId="{E1855974-7D77-4176-9A5E-8A5494BE44C7}" type="presOf" srcId="{BF0F5C01-D5AF-43F9-8603-C6B1C1C09F28}" destId="{FC0F1314-3294-4A8C-8DCE-EB53E236164C}" srcOrd="0"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9571504A-049E-4F79-B93C-1CDD1B52FA35}" srcId="{7B3055AA-BF7C-46D0-9A9E-60087B9F57B4}" destId="{F89B0757-982C-4F5E-B4F3-B79021DEA94B}" srcOrd="1" destOrd="0" parTransId="{F0DABE2D-18E9-4031-BF6B-D778B22AD859}" sibTransId="{CE51DA9B-2535-41DA-BFC8-386915F86000}"/>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E5A4D-0C7B-48A6-917B-0B8433D0574B}">
      <dsp:nvSpPr>
        <dsp:cNvPr id="0" name=""/>
        <dsp:cNvSpPr/>
      </dsp:nvSpPr>
      <dsp:spPr>
        <a:xfrm>
          <a:off x="7040294" y="811638"/>
          <a:ext cx="1456173" cy="3246556"/>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lvl="0" algn="l" defTabSz="889000">
            <a:lnSpc>
              <a:spcPct val="90000"/>
            </a:lnSpc>
            <a:spcBef>
              <a:spcPct val="0"/>
            </a:spcBef>
            <a:spcAft>
              <a:spcPct val="35000"/>
            </a:spcAft>
          </a:pPr>
          <a:r>
            <a:rPr lang="en-US" sz="2000" kern="1200" smtClean="0">
              <a:latin typeface="Times New Roman" panose="02020603050405020304" pitchFamily="18" charset="0"/>
              <a:cs typeface="Times New Roman" panose="02020603050405020304" pitchFamily="18" charset="0"/>
            </a:rPr>
            <a:t>Final Project, Placement Readiness &amp; Evaluation</a:t>
          </a:r>
          <a:endParaRPr lang="en-US" sz="2000" kern="1200">
            <a:latin typeface="Times New Roman" panose="02020603050405020304" pitchFamily="18" charset="0"/>
            <a:cs typeface="Times New Roman" panose="02020603050405020304" pitchFamily="18" charset="0"/>
          </a:endParaRPr>
        </a:p>
      </dsp:txBody>
      <dsp:txXfrm>
        <a:off x="7225136" y="811638"/>
        <a:ext cx="1271332" cy="3246556"/>
      </dsp:txXfrm>
    </dsp:sp>
    <dsp:sp modelId="{C73DE52A-2F45-45E6-AD0E-D5BEAF609F8E}">
      <dsp:nvSpPr>
        <dsp:cNvPr id="0" name=""/>
        <dsp:cNvSpPr/>
      </dsp:nvSpPr>
      <dsp:spPr>
        <a:xfrm>
          <a:off x="7129221" y="0"/>
          <a:ext cx="1278320" cy="81163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Final Review</a:t>
          </a:r>
          <a:endParaRPr lang="en-US" sz="2000" kern="1200" dirty="0">
            <a:latin typeface="Times New Roman" panose="02020603050405020304" pitchFamily="18" charset="0"/>
            <a:cs typeface="Times New Roman" panose="02020603050405020304" pitchFamily="18" charset="0"/>
          </a:endParaRPr>
        </a:p>
      </dsp:txBody>
      <dsp:txXfrm>
        <a:off x="7129221" y="0"/>
        <a:ext cx="1278320" cy="811639"/>
      </dsp:txXfrm>
    </dsp:sp>
    <dsp:sp modelId="{FC0F1314-3294-4A8C-8DCE-EB53E236164C}">
      <dsp:nvSpPr>
        <dsp:cNvPr id="0" name=""/>
        <dsp:cNvSpPr/>
      </dsp:nvSpPr>
      <dsp:spPr>
        <a:xfrm>
          <a:off x="5854094" y="811638"/>
          <a:ext cx="1278320" cy="3043646"/>
        </a:xfrm>
        <a:prstGeom prst="wedgeRectCallout">
          <a:avLst>
            <a:gd name="adj1" fmla="val 62500"/>
            <a:gd name="adj2" fmla="val 20830"/>
          </a:avLst>
        </a:prstGeom>
        <a:solidFill>
          <a:schemeClr val="accent1">
            <a:tint val="50000"/>
            <a:hueOff val="-3179766"/>
            <a:satOff val="8519"/>
            <a:lumOff val="30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lvl="0" algn="l" defTabSz="889000">
            <a:lnSpc>
              <a:spcPct val="90000"/>
            </a:lnSpc>
            <a:spcBef>
              <a:spcPct val="0"/>
            </a:spcBef>
            <a:spcAft>
              <a:spcPct val="35000"/>
            </a:spcAft>
          </a:pPr>
          <a:r>
            <a:rPr lang="en-US" sz="2000" kern="1200" smtClean="0">
              <a:latin typeface="Times New Roman" panose="02020603050405020304" pitchFamily="18" charset="0"/>
              <a:cs typeface="Times New Roman" panose="02020603050405020304" pitchFamily="18" charset="0"/>
            </a:rPr>
            <a:t>AI-Agentic Coding and Advanced Modules</a:t>
          </a:r>
          <a:endParaRPr lang="en-US" sz="2000" kern="1200">
            <a:latin typeface="Times New Roman" panose="02020603050405020304" pitchFamily="18" charset="0"/>
            <a:cs typeface="Times New Roman" panose="02020603050405020304" pitchFamily="18" charset="0"/>
          </a:endParaRPr>
        </a:p>
      </dsp:txBody>
      <dsp:txXfrm>
        <a:off x="6016360" y="811638"/>
        <a:ext cx="1116055" cy="3043646"/>
      </dsp:txXfrm>
    </dsp:sp>
    <dsp:sp modelId="{2AAD338D-3122-4454-9A67-16BE024D44E3}">
      <dsp:nvSpPr>
        <dsp:cNvPr id="0" name=""/>
        <dsp:cNvSpPr/>
      </dsp:nvSpPr>
      <dsp:spPr>
        <a:xfrm>
          <a:off x="5854094" y="101454"/>
          <a:ext cx="1278320" cy="71018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Review 4</a:t>
          </a:r>
          <a:endParaRPr lang="en-US" sz="2000" kern="1200" dirty="0">
            <a:latin typeface="Times New Roman" panose="02020603050405020304" pitchFamily="18" charset="0"/>
            <a:cs typeface="Times New Roman" panose="02020603050405020304" pitchFamily="18" charset="0"/>
          </a:endParaRPr>
        </a:p>
      </dsp:txBody>
      <dsp:txXfrm>
        <a:off x="5854094" y="101454"/>
        <a:ext cx="1278320" cy="710184"/>
      </dsp:txXfrm>
    </dsp:sp>
    <dsp:sp modelId="{2532504F-5FE1-4C97-B485-F05E8885EACC}">
      <dsp:nvSpPr>
        <dsp:cNvPr id="0" name=""/>
        <dsp:cNvSpPr/>
      </dsp:nvSpPr>
      <dsp:spPr>
        <a:xfrm>
          <a:off x="4575773" y="811638"/>
          <a:ext cx="1278320" cy="2840736"/>
        </a:xfrm>
        <a:prstGeom prst="wedgeRectCallout">
          <a:avLst>
            <a:gd name="adj1" fmla="val 62500"/>
            <a:gd name="adj2" fmla="val 20830"/>
          </a:avLst>
        </a:prstGeom>
        <a:solidFill>
          <a:schemeClr val="accent1">
            <a:tint val="50000"/>
            <a:hueOff val="-6359532"/>
            <a:satOff val="17037"/>
            <a:lumOff val="61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lvl="0" algn="l" defTabSz="889000">
            <a:lnSpc>
              <a:spcPct val="90000"/>
            </a:lnSpc>
            <a:spcBef>
              <a:spcPct val="0"/>
            </a:spcBef>
            <a:spcAft>
              <a:spcPct val="35000"/>
            </a:spcAft>
          </a:pPr>
          <a:endParaRPr lang="en-US" sz="2000" kern="1200" dirty="0">
            <a:latin typeface="Times New Roman" panose="02020603050405020304" pitchFamily="18" charset="0"/>
            <a:cs typeface="Times New Roman" panose="02020603050405020304" pitchFamily="18" charset="0"/>
          </a:endParaRPr>
        </a:p>
        <a:p>
          <a:pPr lvl="0" algn="l" defTabSz="889000">
            <a:lnSpc>
              <a:spcPct val="90000"/>
            </a:lnSpc>
            <a:spcBef>
              <a:spcPct val="0"/>
            </a:spcBef>
            <a:spcAft>
              <a:spcPct val="35000"/>
            </a:spcAft>
          </a:pPr>
          <a:r>
            <a:rPr lang="en-US" sz="2000" kern="1200" dirty="0">
              <a:latin typeface="Times New Roman" panose="02020603050405020304" pitchFamily="18" charset="0"/>
              <a:cs typeface="Times New Roman" panose="02020603050405020304" pitchFamily="18" charset="0"/>
            </a:rPr>
            <a:t>Full Stack Project Development</a:t>
          </a:r>
        </a:p>
      </dsp:txBody>
      <dsp:txXfrm>
        <a:off x="4738039" y="811638"/>
        <a:ext cx="1116055" cy="2840736"/>
      </dsp:txXfrm>
    </dsp:sp>
    <dsp:sp modelId="{4C66D42D-7E6D-4563-AFDC-369C30B73F70}">
      <dsp:nvSpPr>
        <dsp:cNvPr id="0" name=""/>
        <dsp:cNvSpPr/>
      </dsp:nvSpPr>
      <dsp:spPr>
        <a:xfrm>
          <a:off x="4575773" y="206156"/>
          <a:ext cx="1278320" cy="60872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Review 3</a:t>
          </a:r>
          <a:endParaRPr lang="en-US" sz="2000" kern="1200" dirty="0">
            <a:latin typeface="Times New Roman" panose="02020603050405020304" pitchFamily="18" charset="0"/>
            <a:cs typeface="Times New Roman" panose="02020603050405020304" pitchFamily="18" charset="0"/>
          </a:endParaRPr>
        </a:p>
      </dsp:txBody>
      <dsp:txXfrm>
        <a:off x="4575773" y="206156"/>
        <a:ext cx="1278320" cy="608729"/>
      </dsp:txXfrm>
    </dsp:sp>
    <dsp:sp modelId="{06F8D57B-EDF4-4CF4-8700-DC2CA3E3028E}">
      <dsp:nvSpPr>
        <dsp:cNvPr id="0" name=""/>
        <dsp:cNvSpPr/>
      </dsp:nvSpPr>
      <dsp:spPr>
        <a:xfrm>
          <a:off x="3297452" y="811638"/>
          <a:ext cx="1278320" cy="2637826"/>
        </a:xfrm>
        <a:prstGeom prst="wedgeRectCallout">
          <a:avLst>
            <a:gd name="adj1" fmla="val 62500"/>
            <a:gd name="adj2" fmla="val 20830"/>
          </a:avLst>
        </a:prstGeom>
        <a:solidFill>
          <a:schemeClr val="accent1">
            <a:tint val="50000"/>
            <a:hueOff val="-9539299"/>
            <a:satOff val="25556"/>
            <a:lumOff val="92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t" anchorCtr="0">
          <a:noAutofit/>
        </a:bodyPr>
        <a:lstStyle/>
        <a:p>
          <a:pPr lvl="0" algn="l" defTabSz="800100">
            <a:lnSpc>
              <a:spcPct val="90000"/>
            </a:lnSpc>
            <a:spcBef>
              <a:spcPct val="0"/>
            </a:spcBef>
            <a:spcAft>
              <a:spcPct val="35000"/>
            </a:spcAft>
          </a:pPr>
          <a:endParaRPr lang="en-US" sz="1800" kern="1200" dirty="0">
            <a:latin typeface="Times New Roman" panose="02020603050405020304" pitchFamily="18" charset="0"/>
            <a:cs typeface="Times New Roman" panose="02020603050405020304" pitchFamily="18" charset="0"/>
          </a:endParaRPr>
        </a:p>
        <a:p>
          <a:pPr lvl="0" algn="l" defTabSz="800100">
            <a:lnSpc>
              <a:spcPct val="90000"/>
            </a:lnSpc>
            <a:spcBef>
              <a:spcPct val="0"/>
            </a:spcBef>
            <a:spcAft>
              <a:spcPct val="35000"/>
            </a:spcAft>
          </a:pPr>
          <a:r>
            <a:rPr lang="en-US" sz="1800" kern="1200" dirty="0">
              <a:latin typeface="Times New Roman" panose="02020603050405020304" pitchFamily="18" charset="0"/>
              <a:cs typeface="Times New Roman" panose="02020603050405020304" pitchFamily="18" charset="0"/>
            </a:rPr>
            <a:t>JavaScript, SQL, Database Handling</a:t>
          </a:r>
        </a:p>
      </dsp:txBody>
      <dsp:txXfrm>
        <a:off x="3459718" y="811638"/>
        <a:ext cx="1116055" cy="2637826"/>
      </dsp:txXfrm>
    </dsp:sp>
    <dsp:sp modelId="{00BB3360-A9BB-4051-A4B1-1216F82F642C}">
      <dsp:nvSpPr>
        <dsp:cNvPr id="0" name=""/>
        <dsp:cNvSpPr/>
      </dsp:nvSpPr>
      <dsp:spPr>
        <a:xfrm>
          <a:off x="3297452" y="304364"/>
          <a:ext cx="1278320" cy="50727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Review 2</a:t>
          </a:r>
          <a:endParaRPr lang="en-US" sz="2000" kern="1200" dirty="0">
            <a:latin typeface="Times New Roman" panose="02020603050405020304" pitchFamily="18" charset="0"/>
            <a:cs typeface="Times New Roman" panose="02020603050405020304" pitchFamily="18" charset="0"/>
          </a:endParaRPr>
        </a:p>
      </dsp:txBody>
      <dsp:txXfrm>
        <a:off x="3297452" y="304364"/>
        <a:ext cx="1278320" cy="507274"/>
      </dsp:txXfrm>
    </dsp:sp>
    <dsp:sp modelId="{A134CDD1-D85F-44EF-8BEE-9F99A855C1E6}">
      <dsp:nvSpPr>
        <dsp:cNvPr id="0" name=""/>
        <dsp:cNvSpPr/>
      </dsp:nvSpPr>
      <dsp:spPr>
        <a:xfrm>
          <a:off x="2019131" y="811638"/>
          <a:ext cx="1278320" cy="2434917"/>
        </a:xfrm>
        <a:prstGeom prst="wedgeRectCallout">
          <a:avLst>
            <a:gd name="adj1" fmla="val 62500"/>
            <a:gd name="adj2" fmla="val 20830"/>
          </a:avLst>
        </a:prstGeom>
        <a:solidFill>
          <a:schemeClr val="accent1">
            <a:tint val="50000"/>
            <a:hueOff val="-12719064"/>
            <a:satOff val="34075"/>
            <a:lumOff val="123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Core Java, </a:t>
          </a:r>
          <a:r>
            <a:rPr lang="en-US" sz="1800" kern="1200" dirty="0" smtClean="0">
              <a:latin typeface="Times New Roman" panose="02020603050405020304" pitchFamily="18" charset="0"/>
              <a:cs typeface="Times New Roman" panose="02020603050405020304" pitchFamily="18" charset="0"/>
            </a:rPr>
            <a:t>HTML</a:t>
          </a:r>
          <a:r>
            <a:rPr lang="en-US" sz="2000" kern="1200" dirty="0" smtClean="0">
              <a:latin typeface="Times New Roman" panose="02020603050405020304" pitchFamily="18" charset="0"/>
              <a:cs typeface="Times New Roman" panose="02020603050405020304" pitchFamily="18" charset="0"/>
            </a:rPr>
            <a:t>, CSS basics</a:t>
          </a:r>
          <a:endParaRPr lang="en-US" sz="2000" kern="1200" dirty="0">
            <a:latin typeface="Times New Roman" panose="02020603050405020304" pitchFamily="18" charset="0"/>
            <a:cs typeface="Times New Roman" panose="02020603050405020304" pitchFamily="18" charset="0"/>
          </a:endParaRPr>
        </a:p>
      </dsp:txBody>
      <dsp:txXfrm>
        <a:off x="2181397" y="811638"/>
        <a:ext cx="1116055" cy="2434917"/>
      </dsp:txXfrm>
    </dsp:sp>
    <dsp:sp modelId="{65257024-FAC0-4522-B139-1CC85B547BE8}">
      <dsp:nvSpPr>
        <dsp:cNvPr id="0" name=""/>
        <dsp:cNvSpPr/>
      </dsp:nvSpPr>
      <dsp:spPr>
        <a:xfrm>
          <a:off x="2019131" y="405819"/>
          <a:ext cx="1278320" cy="40581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Review 1</a:t>
          </a:r>
          <a:endParaRPr lang="en-US" sz="2000" kern="1200" dirty="0">
            <a:latin typeface="Times New Roman" panose="02020603050405020304" pitchFamily="18" charset="0"/>
            <a:cs typeface="Times New Roman" panose="02020603050405020304" pitchFamily="18" charset="0"/>
          </a:endParaRPr>
        </a:p>
      </dsp:txBody>
      <dsp:txXfrm>
        <a:off x="2019131" y="405819"/>
        <a:ext cx="1278320" cy="405819"/>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23/04/2026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35835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23-04-2026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23-04-2026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23-04-2026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23-04-2026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23-04-2026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23-04-2026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23-04-2026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23-04-2026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23-04-2026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23-04-2026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23-04-2026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23-04-2026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mailto:https://github.com/135Deepak"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174377" y="2109718"/>
            <a:ext cx="5865292"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smtClean="0">
                <a:latin typeface="Cambria" panose="02040503050406030204" pitchFamily="18" charset="0"/>
                <a:ea typeface="Cambria" panose="02040503050406030204" pitchFamily="18" charset="0"/>
                <a:cs typeface="Verdana"/>
                <a:sym typeface="Verdana"/>
              </a:rPr>
              <a:t>Mr. D. </a:t>
            </a:r>
            <a:r>
              <a:rPr lang="en-GB" sz="1700" b="1" i="0" u="none" strike="noStrike" cap="none" dirty="0" err="1" smtClean="0">
                <a:latin typeface="Cambria" panose="02040503050406030204" pitchFamily="18" charset="0"/>
                <a:ea typeface="Cambria" panose="02040503050406030204" pitchFamily="18" charset="0"/>
                <a:cs typeface="Verdana"/>
                <a:sym typeface="Verdana"/>
              </a:rPr>
              <a:t>Venkatesan</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smtClean="0">
                <a:latin typeface="Cambria" panose="02040503050406030204" pitchFamily="18" charset="0"/>
                <a:ea typeface="Cambria" panose="02040503050406030204" pitchFamily="18" charset="0"/>
                <a:cs typeface="Verdana"/>
                <a:sym typeface="Verdana"/>
              </a:rPr>
              <a:t>Assistant </a:t>
            </a:r>
            <a:r>
              <a:rPr lang="en-GB" sz="1700" b="1" i="0" u="none" strike="noStrike" cap="none" dirty="0">
                <a:latin typeface="Cambria" panose="02040503050406030204" pitchFamily="18" charset="0"/>
                <a:ea typeface="Cambria" panose="02040503050406030204" pitchFamily="18" charset="0"/>
                <a:cs typeface="Verdana"/>
                <a:sym typeface="Verdana"/>
              </a:rPr>
              <a:t>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smtClean="0">
                <a:latin typeface="Cambria" panose="02040503050406030204" pitchFamily="18" charset="0"/>
                <a:ea typeface="Cambria" panose="02040503050406030204" pitchFamily="18" charset="0"/>
                <a:cs typeface="Verdana"/>
                <a:sym typeface="Verdana"/>
              </a:rPr>
              <a:t>Presidency School </a:t>
            </a:r>
            <a:r>
              <a:rPr lang="en-GB" sz="1700" b="1" i="0" u="none" strike="noStrike" cap="none" dirty="0">
                <a:latin typeface="Cambria" panose="02040503050406030204" pitchFamily="18" charset="0"/>
                <a:ea typeface="Cambria" panose="02040503050406030204" pitchFamily="18" charset="0"/>
                <a:cs typeface="Verdana"/>
                <a:sym typeface="Verdana"/>
              </a:rPr>
              <a:t>of </a:t>
            </a:r>
            <a:r>
              <a:rPr lang="en-GB" sz="1700" b="1" i="0" u="none" strike="noStrike" cap="none" dirty="0" smtClean="0">
                <a:latin typeface="Cambria" panose="02040503050406030204" pitchFamily="18" charset="0"/>
                <a:ea typeface="Cambria" panose="02040503050406030204" pitchFamily="18" charset="0"/>
                <a:cs typeface="Verdana"/>
                <a:sym typeface="Verdana"/>
              </a:rPr>
              <a:t>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smtClean="0">
                <a:latin typeface="Cambria" panose="02040503050406030204" pitchFamily="18" charset="0"/>
                <a:ea typeface="Cambria" panose="02040503050406030204" pitchFamily="18" charset="0"/>
                <a:cs typeface="Verdana"/>
                <a:sym typeface="Verdana"/>
              </a:rPr>
              <a:t>Name of the Program: B Tech Computer Science and Engineering (AI and ML)</a:t>
            </a:r>
          </a:p>
          <a:p>
            <a:pPr marL="0" marR="0" lvl="0" indent="0" rtl="0">
              <a:spcBef>
                <a:spcPts val="0"/>
              </a:spcBef>
              <a:spcAft>
                <a:spcPts val="0"/>
              </a:spcAft>
              <a:buClr>
                <a:srgbClr val="17365D"/>
              </a:buClr>
              <a:buSzPct val="100000"/>
              <a:buFont typeface="Arial"/>
              <a:buNone/>
            </a:pPr>
            <a:r>
              <a:rPr lang="en-US" sz="2000" b="1" dirty="0" smtClean="0">
                <a:latin typeface="Cambria" panose="02040503050406030204" pitchFamily="18" charset="0"/>
                <a:ea typeface="Cambria" panose="02040503050406030204" pitchFamily="18" charset="0"/>
                <a:cs typeface="Verdana"/>
                <a:sym typeface="Verdana"/>
              </a:rPr>
              <a:t>Name of the HoD: Dr. Zafar Ali Khan</a:t>
            </a:r>
          </a:p>
          <a:p>
            <a:pPr marL="0" marR="0" lvl="0" indent="0" rtl="0">
              <a:spcBef>
                <a:spcPts val="0"/>
              </a:spcBef>
              <a:spcAft>
                <a:spcPts val="0"/>
              </a:spcAft>
              <a:buClr>
                <a:srgbClr val="17365D"/>
              </a:buClr>
              <a:buSzPct val="100000"/>
              <a:buFont typeface="Arial"/>
              <a:buNone/>
            </a:pPr>
            <a:r>
              <a:rPr lang="en-US" sz="2000" b="1" i="0" u="none" strike="noStrike" cap="none" dirty="0" smtClean="0">
                <a:latin typeface="Cambria" panose="02040503050406030204" pitchFamily="18" charset="0"/>
                <a:ea typeface="Cambria" panose="02040503050406030204" pitchFamily="18" charset="0"/>
                <a:cs typeface="Verdana"/>
                <a:sym typeface="Verdana"/>
              </a:rPr>
              <a:t>Name of the Program Internship Coordinator: Mr. </a:t>
            </a:r>
            <a:r>
              <a:rPr lang="en-US" sz="2000" b="1" i="0" u="none" strike="noStrike" cap="none" dirty="0" err="1" smtClean="0">
                <a:latin typeface="Cambria" panose="02040503050406030204" pitchFamily="18" charset="0"/>
                <a:ea typeface="Cambria" panose="02040503050406030204" pitchFamily="18" charset="0"/>
                <a:cs typeface="Verdana"/>
                <a:sym typeface="Verdana"/>
              </a:rPr>
              <a:t>Anandan</a:t>
            </a:r>
            <a:r>
              <a:rPr lang="en-US" sz="2000" b="1" i="0" u="none" strike="noStrike" cap="none" dirty="0" smtClean="0">
                <a:latin typeface="Cambria" panose="02040503050406030204" pitchFamily="18" charset="0"/>
                <a:ea typeface="Cambria" panose="02040503050406030204" pitchFamily="18" charset="0"/>
                <a:cs typeface="Verdana"/>
                <a:sym typeface="Verdana"/>
              </a:rPr>
              <a:t> </a:t>
            </a:r>
            <a:r>
              <a:rPr lang="en-US" sz="2000" b="1" i="0" u="none" strike="noStrike" cap="none" dirty="0" err="1" smtClean="0">
                <a:latin typeface="Cambria" panose="02040503050406030204" pitchFamily="18" charset="0"/>
                <a:ea typeface="Cambria" panose="02040503050406030204" pitchFamily="18" charset="0"/>
                <a:cs typeface="Verdana"/>
                <a:sym typeface="Verdana"/>
              </a:rPr>
              <a:t>Bellie</a:t>
            </a:r>
            <a:endParaRPr lang="en-US" sz="2000" b="1" i="0" u="none" strike="noStrike" cap="none" dirty="0" smtClean="0">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Name of the </a:t>
            </a:r>
            <a:r>
              <a:rPr lang="en-US" sz="2000" b="1" dirty="0" smtClean="0">
                <a:latin typeface="Cambria" panose="02040503050406030204" pitchFamily="18" charset="0"/>
                <a:ea typeface="Cambria" panose="02040503050406030204" pitchFamily="18" charset="0"/>
                <a:cs typeface="Verdana"/>
                <a:sym typeface="Verdana"/>
              </a:rPr>
              <a:t>School Internship Coordinator: </a:t>
            </a:r>
            <a:r>
              <a:rPr lang="en-US" sz="2000" b="1" dirty="0">
                <a:latin typeface="Cambria" panose="02040503050406030204" pitchFamily="18" charset="0"/>
                <a:ea typeface="Cambria" panose="02040503050406030204" pitchFamily="18" charset="0"/>
                <a:cs typeface="Verdana"/>
                <a:sym typeface="Verdana"/>
              </a:rPr>
              <a:t>D</a:t>
            </a:r>
            <a:r>
              <a:rPr lang="en-US" sz="2000" b="1" dirty="0" smtClean="0">
                <a:latin typeface="Cambria" panose="02040503050406030204" pitchFamily="18" charset="0"/>
                <a:ea typeface="Cambria" panose="02040503050406030204" pitchFamily="18" charset="0"/>
                <a:cs typeface="Verdana"/>
                <a:sym typeface="Verdana"/>
              </a:rPr>
              <a:t>r</a:t>
            </a:r>
            <a:r>
              <a:rPr lang="en-US" sz="2000" b="1" dirty="0">
                <a:latin typeface="Cambria" panose="02040503050406030204" pitchFamily="18" charset="0"/>
                <a:ea typeface="Cambria" panose="02040503050406030204" pitchFamily="18" charset="0"/>
                <a:cs typeface="Verdana"/>
                <a:sym typeface="Verdana"/>
              </a:rPr>
              <a:t>. Md Ziaur </a:t>
            </a:r>
            <a:r>
              <a:rPr lang="en-US" sz="2000" b="1" dirty="0" smtClean="0">
                <a:latin typeface="Cambria" panose="02040503050406030204" pitchFamily="18" charset="0"/>
                <a:ea typeface="Cambria" panose="02040503050406030204" pitchFamily="18" charset="0"/>
                <a:cs typeface="Verdana"/>
                <a:sym typeface="Verdana"/>
              </a:rPr>
              <a:t>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r>
              <a:rPr lang="en-US" sz="2000" b="1" dirty="0" smtClean="0">
                <a:latin typeface="Cambria" panose="02040503050406030204" pitchFamily="18" charset="0"/>
                <a:ea typeface="Cambria" panose="02040503050406030204" pitchFamily="18" charset="0"/>
                <a:cs typeface="Verdana"/>
                <a:sym typeface="Verdana"/>
              </a:rPr>
              <a:t>													</a:t>
            </a:r>
            <a:endParaRPr sz="2000" b="1" i="0" u="none" strike="noStrike" cap="none" dirty="0">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smtClean="0">
                <a:solidFill>
                  <a:schemeClr val="tx1"/>
                </a:solidFill>
                <a:latin typeface="Times New Roman" panose="02020603050405020304" pitchFamily="18" charset="0"/>
                <a:cs typeface="Times New Roman" panose="02020603050405020304" pitchFamily="18" charset="0"/>
              </a:rPr>
              <a:t>CSE7302 - INTERNSHIP</a:t>
            </a:r>
            <a:r>
              <a:rPr lang="en-IN" dirty="0" smtClean="0">
                <a:solidFill>
                  <a:schemeClr val="tx1"/>
                </a:solidFill>
                <a:latin typeface="Times New Roman" panose="02020603050405020304" pitchFamily="18" charset="0"/>
                <a:cs typeface="Times New Roman" panose="02020603050405020304" pitchFamily="18" charset="0"/>
              </a:rPr>
              <a:t/>
            </a:r>
            <a:br>
              <a:rPr lang="en-IN" dirty="0" smtClean="0">
                <a:solidFill>
                  <a:schemeClr val="tx1"/>
                </a:solidFill>
                <a:latin typeface="Times New Roman" panose="02020603050405020304" pitchFamily="18" charset="0"/>
                <a:cs typeface="Times New Roman" panose="02020603050405020304" pitchFamily="18" charset="0"/>
              </a:rPr>
            </a:br>
            <a:r>
              <a:rPr lang="en-US" sz="2400" dirty="0" smtClean="0">
                <a:solidFill>
                  <a:schemeClr val="tx1"/>
                </a:solidFill>
                <a:latin typeface="Times New Roman" panose="02020603050405020304" pitchFamily="18" charset="0"/>
                <a:ea typeface="Tahoma" pitchFamily="34" charset="0"/>
                <a:cs typeface="Times New Roman" panose="02020603050405020304" pitchFamily="18" charset="0"/>
              </a:rPr>
              <a:t>Review-5 </a:t>
            </a:r>
            <a:r>
              <a:rPr lang="en-US" sz="2400" dirty="0" smtClean="0">
                <a:solidFill>
                  <a:schemeClr val="tx1"/>
                </a:solidFill>
                <a:latin typeface="Times New Roman" panose="02020603050405020304" pitchFamily="18" charset="0"/>
                <a:ea typeface="Tahoma" pitchFamily="34" charset="0"/>
                <a:cs typeface="Times New Roman" panose="02020603050405020304" pitchFamily="18" charset="0"/>
              </a:rPr>
              <a:t>Presentation </a:t>
            </a:r>
            <a:br>
              <a:rPr lang="en-US" sz="2400" dirty="0" smtClean="0">
                <a:solidFill>
                  <a:schemeClr val="tx1"/>
                </a:solidFill>
                <a:latin typeface="Times New Roman" panose="02020603050405020304" pitchFamily="18" charset="0"/>
                <a:ea typeface="Tahoma" pitchFamily="34" charset="0"/>
                <a:cs typeface="Times New Roman" panose="02020603050405020304" pitchFamily="18" charset="0"/>
              </a:rPr>
            </a:br>
            <a:r>
              <a:rPr lang="en-IN" sz="2400" dirty="0">
                <a:solidFill>
                  <a:schemeClr val="tx1"/>
                </a:solidFill>
                <a:latin typeface="Times New Roman" panose="02020603050405020304" pitchFamily="18" charset="0"/>
                <a:cs typeface="Times New Roman" panose="02020603050405020304" pitchFamily="18" charset="0"/>
              </a:rPr>
              <a:t>Software </a:t>
            </a:r>
            <a:r>
              <a:rPr lang="en-IN" sz="2400" dirty="0" smtClean="0">
                <a:solidFill>
                  <a:schemeClr val="tx1"/>
                </a:solidFill>
                <a:latin typeface="Times New Roman" panose="02020603050405020304" pitchFamily="18" charset="0"/>
                <a:cs typeface="Times New Roman" panose="02020603050405020304" pitchFamily="18" charset="0"/>
              </a:rPr>
              <a:t>Development Intern</a:t>
            </a:r>
            <a:endParaRPr lang="en-US" sz="2400" dirty="0">
              <a:solidFill>
                <a:schemeClr val="tx1"/>
              </a:solidFill>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941530040"/>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smtClean="0">
                          <a:latin typeface="Cambria" panose="02040503050406030204" pitchFamily="18" charset="0"/>
                          <a:ea typeface="Cambria" panose="02040503050406030204" pitchFamily="18" charset="0"/>
                          <a:cs typeface="Times New Roman" panose="02020603050405020304" pitchFamily="18" charset="0"/>
                        </a:rPr>
                        <a:t>Student Details</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Name</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b="1" dirty="0" smtClean="0">
                          <a:latin typeface="Cambria" panose="02040503050406030204" pitchFamily="18" charset="0"/>
                          <a:ea typeface="Cambria" panose="02040503050406030204" pitchFamily="18" charset="0"/>
                          <a:cs typeface="Times New Roman" panose="02020603050405020304" pitchFamily="18" charset="0"/>
                        </a:rPr>
                        <a:t>DEEPAK M</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673540802"/>
                  </a:ext>
                </a:extLst>
              </a:tr>
              <a:tr h="362263">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Roll No</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b="1" dirty="0" smtClean="0">
                          <a:latin typeface="Cambria" panose="02040503050406030204" pitchFamily="18" charset="0"/>
                          <a:ea typeface="Cambria" panose="02040503050406030204" pitchFamily="18" charset="0"/>
                          <a:cs typeface="Times New Roman" panose="02020603050405020304" pitchFamily="18" charset="0"/>
                        </a:rPr>
                        <a:t>20221CAI0135</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1825509489"/>
                  </a:ext>
                </a:extLst>
              </a:tr>
              <a:tr h="362263">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Section</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b="1" dirty="0" smtClean="0">
                          <a:latin typeface="Cambria" panose="02040503050406030204" pitchFamily="18" charset="0"/>
                          <a:ea typeface="Cambria" panose="02040503050406030204" pitchFamily="18" charset="0"/>
                          <a:cs typeface="Times New Roman" panose="02020603050405020304" pitchFamily="18" charset="0"/>
                        </a:rPr>
                        <a:t>8CAI-03</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667245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smtClean="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About Company or Organization</a:t>
            </a:r>
          </a:p>
          <a:p>
            <a:pPr marL="495300" indent="-342900" algn="just">
              <a:lnSpc>
                <a:spcPct val="1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Objectives of the work</a:t>
            </a:r>
          </a:p>
          <a:p>
            <a:pPr marL="495300" indent="-342900" algn="just">
              <a:lnSpc>
                <a:spcPct val="1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IN" sz="2000" b="1" dirty="0" smtClean="0">
                <a:latin typeface="Times New Roman" panose="02020603050405020304" pitchFamily="18" charset="0"/>
                <a:cs typeface="Times New Roman" panose="02020603050405020304" pitchFamily="18" charset="0"/>
              </a:rPr>
              <a:t>System </a:t>
            </a:r>
            <a:r>
              <a:rPr lang="en-IN" sz="2000" b="1" dirty="0">
                <a:latin typeface="Times New Roman" panose="02020603050405020304" pitchFamily="18" charset="0"/>
                <a:cs typeface="Times New Roman" panose="02020603050405020304" pitchFamily="18" charset="0"/>
              </a:rPr>
              <a:t>Requirements</a:t>
            </a:r>
          </a:p>
          <a:p>
            <a:pPr marL="495300" indent="-342900" algn="just">
              <a:lnSpc>
                <a:spcPct val="1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Internship Roadmap</a:t>
            </a:r>
          </a:p>
          <a:p>
            <a:pPr marL="495300" indent="-342900" algn="just">
              <a:lnSpc>
                <a:spcPct val="100000"/>
              </a:lnSpc>
              <a:spcBef>
                <a:spcPts val="0"/>
              </a:spcBef>
              <a:buFont typeface="Wingdings" panose="05000000000000000000" pitchFamily="2" charset="2"/>
              <a:buChar char="Ø"/>
            </a:pPr>
            <a:r>
              <a:rPr lang="en-IN" sz="2000" b="1" dirty="0" err="1">
                <a:latin typeface="Times New Roman" panose="02020603050405020304" pitchFamily="18" charset="0"/>
                <a:cs typeface="Times New Roman" panose="02020603050405020304" pitchFamily="18" charset="0"/>
              </a:rPr>
              <a:t>Github</a:t>
            </a:r>
            <a:r>
              <a:rPr lang="en-IN" sz="2000" b="1" dirty="0">
                <a:latin typeface="Times New Roman" panose="02020603050405020304" pitchFamily="18" charset="0"/>
                <a:cs typeface="Times New Roman" panose="02020603050405020304" pitchFamily="18" charset="0"/>
              </a:rPr>
              <a:t> Link</a:t>
            </a:r>
            <a:endParaRPr lang="en-US" sz="2000" dirty="0">
              <a:latin typeface="Cambria" panose="02040503050406030204" pitchFamily="18" charset="0"/>
              <a:ea typeface="Cambria" panose="02040503050406030204" pitchFamily="18" charset="0"/>
            </a:endParaRPr>
          </a:p>
          <a:p>
            <a:pPr marL="152400" lvl="0" indent="0" algn="just" rtl="0">
              <a:lnSpc>
                <a:spcPct val="200000"/>
              </a:lnSpc>
              <a:spcBef>
                <a:spcPts val="0"/>
              </a:spcBef>
              <a:spcAft>
                <a:spcPts val="0"/>
              </a:spcAft>
              <a:buClr>
                <a:schemeClr val="dk1"/>
              </a:buClr>
              <a:buSzPts val="2400"/>
              <a:buNone/>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169930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smtClean="0">
                <a:latin typeface="Times New Roman" panose="02020603050405020304" pitchFamily="18" charset="0"/>
                <a:cs typeface="Times New Roman" panose="02020603050405020304" pitchFamily="18" charset="0"/>
              </a:rPr>
              <a:t>About Company </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45031"/>
            <a:ext cx="10515600" cy="4193176"/>
          </a:xfrm>
        </p:spPr>
        <p:txBody>
          <a:bodyPr>
            <a:normAutofit fontScale="92500" lnSpcReduction="10000"/>
          </a:bodyPr>
          <a:lstStyle/>
          <a:p>
            <a:pPr algn="just"/>
            <a:r>
              <a:rPr lang="en-US" sz="2600" b="1" dirty="0">
                <a:latin typeface="Times New Roman" panose="02020603050405020304" pitchFamily="18" charset="0"/>
                <a:cs typeface="Times New Roman" panose="02020603050405020304" pitchFamily="18" charset="0"/>
              </a:rPr>
              <a:t>TAP Academy </a:t>
            </a:r>
            <a:r>
              <a:rPr lang="en-US" sz="2600" dirty="0">
                <a:latin typeface="Times New Roman" panose="02020603050405020304" pitchFamily="18" charset="0"/>
                <a:cs typeface="Times New Roman" panose="02020603050405020304" pitchFamily="18" charset="0"/>
              </a:rPr>
              <a:t>is a Bengaluru-based professional training and placement </a:t>
            </a:r>
            <a:r>
              <a:rPr lang="en-US" sz="2600" dirty="0" err="1" smtClean="0">
                <a:latin typeface="Times New Roman" panose="02020603050405020304" pitchFamily="18" charset="0"/>
                <a:cs typeface="Times New Roman" panose="02020603050405020304" pitchFamily="18" charset="0"/>
              </a:rPr>
              <a:t>organisation</a:t>
            </a:r>
            <a:r>
              <a:rPr lang="en-US" sz="2600" dirty="0" smtClean="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that focuses on transforming engineering students into industry-ready software professionals. The institution provides structured training programs in software development, real-time project exposure, and placement preparation</a:t>
            </a:r>
            <a:r>
              <a:rPr lang="en-US" sz="2600" dirty="0" smtClean="0">
                <a:latin typeface="Times New Roman" panose="02020603050405020304" pitchFamily="18" charset="0"/>
                <a:cs typeface="Times New Roman" panose="02020603050405020304" pitchFamily="18" charset="0"/>
              </a:rPr>
              <a:t>.</a:t>
            </a:r>
          </a:p>
          <a:p>
            <a:pPr marL="0" indent="0" algn="just">
              <a:buNone/>
            </a:pPr>
            <a:endParaRPr lang="en-US" sz="2600" dirty="0">
              <a:latin typeface="Times New Roman" panose="02020603050405020304" pitchFamily="18" charset="0"/>
              <a:cs typeface="Times New Roman" panose="02020603050405020304" pitchFamily="18" charset="0"/>
            </a:endParaRPr>
          </a:p>
          <a:p>
            <a:pPr algn="just"/>
            <a:r>
              <a:rPr lang="en-US" sz="2600" b="1" dirty="0">
                <a:latin typeface="Times New Roman" panose="02020603050405020304" pitchFamily="18" charset="0"/>
                <a:cs typeface="Times New Roman" panose="02020603050405020304" pitchFamily="18" charset="0"/>
              </a:rPr>
              <a:t>TAP Academy </a:t>
            </a:r>
            <a:r>
              <a:rPr lang="en-US" sz="2600" dirty="0">
                <a:latin typeface="Times New Roman" panose="02020603050405020304" pitchFamily="18" charset="0"/>
                <a:cs typeface="Times New Roman" panose="02020603050405020304" pitchFamily="18" charset="0"/>
              </a:rPr>
              <a:t>works closely with corporate partners and IT companies to bridge the gap between academic knowledge and industrial requirements. Their Campus to Corporate (C2C) Internship Program equips students with both technical skills and workplace discipline, ensuring better employability after </a:t>
            </a:r>
            <a:r>
              <a:rPr lang="en-US" sz="2600" dirty="0" smtClean="0">
                <a:latin typeface="Times New Roman" panose="02020603050405020304" pitchFamily="18" charset="0"/>
                <a:cs typeface="Times New Roman" panose="02020603050405020304" pitchFamily="18" charset="0"/>
              </a:rPr>
              <a:t>graduation.</a:t>
            </a:r>
          </a:p>
          <a:p>
            <a:pPr marL="0" indent="0" algn="just">
              <a:buNone/>
            </a:pPr>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The </a:t>
            </a:r>
            <a:r>
              <a:rPr lang="en-US" sz="2600" dirty="0" err="1" smtClean="0">
                <a:latin typeface="Times New Roman" panose="02020603050405020304" pitchFamily="18" charset="0"/>
                <a:cs typeface="Times New Roman" panose="02020603050405020304" pitchFamily="18" charset="0"/>
              </a:rPr>
              <a:t>organisation</a:t>
            </a:r>
            <a:r>
              <a:rPr lang="en-US" sz="2600" dirty="0" smtClean="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also </a:t>
            </a:r>
            <a:r>
              <a:rPr lang="en-US" sz="2600" dirty="0" err="1" smtClean="0">
                <a:latin typeface="Times New Roman" panose="02020603050405020304" pitchFamily="18" charset="0"/>
                <a:cs typeface="Times New Roman" panose="02020603050405020304" pitchFamily="18" charset="0"/>
              </a:rPr>
              <a:t>emphasises</a:t>
            </a:r>
            <a:r>
              <a:rPr lang="en-US" sz="2600" dirty="0" smtClean="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emerging technologies such as AI-assisted development and modern software frameworks, making students future-ready.</a:t>
            </a:r>
          </a:p>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15581389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latin typeface="Times New Roman" panose="02020603050405020304" pitchFamily="18" charset="0"/>
                <a:cs typeface="Times New Roman" panose="02020603050405020304" pitchFamily="18" charset="0"/>
              </a:rPr>
              <a:t>Working domain</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noAutofit/>
          </a:bodyPr>
          <a:lstStyle/>
          <a:p>
            <a:pPr marL="0" indent="0" algn="just">
              <a:buNone/>
            </a:pPr>
            <a:r>
              <a:rPr lang="en-US" sz="2400" dirty="0">
                <a:latin typeface="Times New Roman" panose="02020603050405020304" pitchFamily="18" charset="0"/>
                <a:cs typeface="Times New Roman" panose="02020603050405020304" pitchFamily="18" charset="0"/>
              </a:rPr>
              <a:t>My internship domain is </a:t>
            </a:r>
            <a:r>
              <a:rPr lang="en-US" sz="2400" b="1" dirty="0">
                <a:latin typeface="Times New Roman" panose="02020603050405020304" pitchFamily="18" charset="0"/>
                <a:cs typeface="Times New Roman" panose="02020603050405020304" pitchFamily="18" charset="0"/>
              </a:rPr>
              <a:t>Software Development</a:t>
            </a:r>
            <a:r>
              <a:rPr lang="en-US" sz="2400" dirty="0">
                <a:latin typeface="Times New Roman" panose="02020603050405020304" pitchFamily="18" charset="0"/>
                <a:cs typeface="Times New Roman" panose="02020603050405020304" pitchFamily="18" charset="0"/>
              </a:rPr>
              <a:t> with </a:t>
            </a:r>
            <a:r>
              <a:rPr lang="en-US" sz="2400" dirty="0" err="1" smtClean="0">
                <a:latin typeface="Times New Roman" panose="02020603050405020304" pitchFamily="18" charset="0"/>
                <a:cs typeface="Times New Roman" panose="02020603050405020304" pitchFamily="18" charset="0"/>
              </a:rPr>
              <a:t>specialisation</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 </a:t>
            </a:r>
            <a:r>
              <a:rPr lang="en-US" sz="2400" b="1" dirty="0">
                <a:latin typeface="Times New Roman" panose="02020603050405020304" pitchFamily="18" charset="0"/>
                <a:cs typeface="Times New Roman" panose="02020603050405020304" pitchFamily="18" charset="0"/>
              </a:rPr>
              <a:t>Full Stack Web Development and AI-Agentic Coding</a:t>
            </a:r>
            <a:r>
              <a:rPr lang="en-US" sz="2400" dirty="0">
                <a:latin typeface="Times New Roman" panose="02020603050405020304" pitchFamily="18" charset="0"/>
                <a:cs typeface="Times New Roman" panose="02020603050405020304" pitchFamily="18" charset="0"/>
              </a:rPr>
              <a:t>.</a:t>
            </a:r>
          </a:p>
          <a:p>
            <a:pPr marL="0" indent="0" algn="just">
              <a:buNone/>
            </a:pPr>
            <a:r>
              <a:rPr lang="en-US" sz="2400" dirty="0">
                <a:latin typeface="Times New Roman" panose="02020603050405020304" pitchFamily="18" charset="0"/>
                <a:cs typeface="Times New Roman" panose="02020603050405020304" pitchFamily="18" charset="0"/>
              </a:rPr>
              <a:t>The domain includes working on:</a:t>
            </a:r>
          </a:p>
          <a:p>
            <a:pPr lvl="1"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Core Java programming</a:t>
            </a:r>
          </a:p>
          <a:p>
            <a:pPr lvl="1"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Front-end development using HTML, CSS, and JavaScript</a:t>
            </a:r>
          </a:p>
          <a:p>
            <a:pPr lvl="1"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Database handling using SQL</a:t>
            </a:r>
          </a:p>
          <a:p>
            <a:pPr lvl="1"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Understanding software life cycle models</a:t>
            </a:r>
          </a:p>
          <a:p>
            <a:pPr lvl="1" algn="just">
              <a:buFont typeface="Wingdings" panose="05000000000000000000" pitchFamily="2" charset="2"/>
              <a:buChar char="§"/>
            </a:pPr>
            <a:r>
              <a:rPr lang="en-US" sz="2000" dirty="0" smtClean="0">
                <a:latin typeface="Times New Roman" panose="02020603050405020304" pitchFamily="18" charset="0"/>
                <a:cs typeface="Times New Roman" panose="02020603050405020304" pitchFamily="18" charset="0"/>
              </a:rPr>
              <a:t>Introduction </a:t>
            </a:r>
            <a:r>
              <a:rPr lang="en-US" sz="2000" dirty="0">
                <a:latin typeface="Times New Roman" panose="02020603050405020304" pitchFamily="18" charset="0"/>
                <a:cs typeface="Times New Roman" panose="02020603050405020304" pitchFamily="18" charset="0"/>
              </a:rPr>
              <a:t>to AI-assisted development </a:t>
            </a:r>
            <a:r>
              <a:rPr lang="en-US" sz="2000" dirty="0" smtClean="0">
                <a:latin typeface="Times New Roman" panose="02020603050405020304" pitchFamily="18" charset="0"/>
                <a:cs typeface="Times New Roman" panose="02020603050405020304" pitchFamily="18" charset="0"/>
              </a:rPr>
              <a:t>tools</a:t>
            </a:r>
          </a:p>
          <a:p>
            <a:pPr marL="457200" lvl="1"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This domain is important because it trains students to build real-time web applications, follow coding standards, and understand how professional development teams work in the IT industry.</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4</a:t>
            </a:fld>
            <a:endParaRPr lang="en-US" altLang="en-US"/>
          </a:p>
        </p:txBody>
      </p:sp>
    </p:spTree>
    <p:extLst>
      <p:ext uri="{BB962C8B-B14F-4D97-AF65-F5344CB8AC3E}">
        <p14:creationId xmlns:p14="http://schemas.microsoft.com/office/powerpoint/2010/main" val="6586821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latin typeface="Times New Roman" panose="02020603050405020304" pitchFamily="18" charset="0"/>
                <a:cs typeface="Times New Roman" panose="02020603050405020304" pitchFamily="18" charset="0"/>
              </a:rPr>
              <a:t>About your team and reporting Manager</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normAutofit/>
          </a:bodyPr>
          <a:lstStyle/>
          <a:p>
            <a:pPr algn="just"/>
            <a:r>
              <a:rPr lang="en-US" sz="2400" dirty="0">
                <a:latin typeface="Times New Roman" panose="02020603050405020304" pitchFamily="18" charset="0"/>
                <a:cs typeface="Times New Roman" panose="02020603050405020304" pitchFamily="18" charset="0"/>
              </a:rPr>
              <a:t>I am part of the </a:t>
            </a:r>
            <a:r>
              <a:rPr lang="en-US" sz="2400" b="1" dirty="0">
                <a:latin typeface="Times New Roman" panose="02020603050405020304" pitchFamily="18" charset="0"/>
                <a:cs typeface="Times New Roman" panose="02020603050405020304" pitchFamily="18" charset="0"/>
              </a:rPr>
              <a:t>Campus to Corporate Internship Batch</a:t>
            </a:r>
            <a:r>
              <a:rPr lang="en-US" sz="2400" dirty="0">
                <a:latin typeface="Times New Roman" panose="02020603050405020304" pitchFamily="18" charset="0"/>
                <a:cs typeface="Times New Roman" panose="02020603050405020304" pitchFamily="18" charset="0"/>
              </a:rPr>
              <a:t> at TAP Academy. The team consists of interns from different engineering streams working under experienced technical trainers and mentors.</a:t>
            </a:r>
          </a:p>
          <a:p>
            <a:pPr algn="just"/>
            <a:r>
              <a:rPr lang="en-US" sz="2400" dirty="0">
                <a:latin typeface="Times New Roman" panose="02020603050405020304" pitchFamily="18" charset="0"/>
                <a:cs typeface="Times New Roman" panose="02020603050405020304" pitchFamily="18" charset="0"/>
              </a:rPr>
              <a:t>My reporting authority includes senior trainers who guide us in daily tasks, code reviews, module assessments, and project activities. All learning modules and projects are monitored regularly to ensure quality and consistency in performance.</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a:p>
        </p:txBody>
      </p:sp>
    </p:spTree>
    <p:extLst>
      <p:ext uri="{BB962C8B-B14F-4D97-AF65-F5344CB8AC3E}">
        <p14:creationId xmlns:p14="http://schemas.microsoft.com/office/powerpoint/2010/main" val="25106966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latin typeface="Times New Roman" panose="02020603050405020304" pitchFamily="18" charset="0"/>
                <a:cs typeface="Times New Roman" panose="02020603050405020304" pitchFamily="18" charset="0"/>
              </a:rPr>
              <a:t>Challenges Faced in Internship</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lstStyle/>
          <a:p>
            <a:pPr marL="0" indent="0">
              <a:buNone/>
            </a:pPr>
            <a:r>
              <a:rPr lang="en-US" dirty="0">
                <a:latin typeface="Times New Roman" panose="02020603050405020304" pitchFamily="18" charset="0"/>
                <a:cs typeface="Times New Roman" panose="02020603050405020304" pitchFamily="18" charset="0"/>
              </a:rPr>
              <a:t>The major challenges faced during the internship include</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Understanding industry-level coding standards</a:t>
            </a:r>
          </a:p>
          <a:p>
            <a:pPr lvl="1"/>
            <a:r>
              <a:rPr lang="en-US" dirty="0">
                <a:latin typeface="Times New Roman" panose="02020603050405020304" pitchFamily="18" charset="0"/>
                <a:cs typeface="Times New Roman" panose="02020603050405020304" pitchFamily="18" charset="0"/>
              </a:rPr>
              <a:t>Adjusting to a disciplined corporate training schedule</a:t>
            </a:r>
          </a:p>
          <a:p>
            <a:pPr lvl="1"/>
            <a:r>
              <a:rPr lang="en-US" dirty="0">
                <a:latin typeface="Times New Roman" panose="02020603050405020304" pitchFamily="18" charset="0"/>
                <a:cs typeface="Times New Roman" panose="02020603050405020304" pitchFamily="18" charset="0"/>
              </a:rPr>
              <a:t>Managing multiple technical modules within limited time</a:t>
            </a:r>
          </a:p>
          <a:p>
            <a:pPr lvl="1"/>
            <a:r>
              <a:rPr lang="en-US" dirty="0">
                <a:latin typeface="Times New Roman" panose="02020603050405020304" pitchFamily="18" charset="0"/>
                <a:cs typeface="Times New Roman" panose="02020603050405020304" pitchFamily="18" charset="0"/>
              </a:rPr>
              <a:t>Learning new tools and development environments</a:t>
            </a:r>
          </a:p>
          <a:p>
            <a:pPr lvl="1"/>
            <a:r>
              <a:rPr lang="en-US" dirty="0">
                <a:latin typeface="Times New Roman" panose="02020603050405020304" pitchFamily="18" charset="0"/>
                <a:cs typeface="Times New Roman" panose="02020603050405020304" pitchFamily="18" charset="0"/>
              </a:rPr>
              <a:t>Maintaining consistency in daily </a:t>
            </a:r>
            <a:r>
              <a:rPr lang="en-US" dirty="0" smtClean="0">
                <a:latin typeface="Times New Roman" panose="02020603050405020304" pitchFamily="18" charset="0"/>
                <a:cs typeface="Times New Roman" panose="02020603050405020304" pitchFamily="18" charset="0"/>
              </a:rPr>
              <a:t>evaluations</a:t>
            </a:r>
          </a:p>
          <a:p>
            <a:pPr marL="0" indent="0">
              <a:buNone/>
            </a:pPr>
            <a:r>
              <a:rPr lang="en-US" dirty="0">
                <a:latin typeface="Times New Roman" panose="02020603050405020304" pitchFamily="18" charset="0"/>
                <a:cs typeface="Times New Roman" panose="02020603050405020304" pitchFamily="18" charset="0"/>
              </a:rPr>
              <a:t>These challenges helped me develop time-management skills, adaptability, and professional discipline.</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12061569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latin typeface="Times New Roman" panose="02020603050405020304" pitchFamily="18" charset="0"/>
                <a:cs typeface="Times New Roman" panose="02020603050405020304" pitchFamily="18" charset="0"/>
              </a:rPr>
              <a:t>Objectives of the work</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lstStyle/>
          <a:p>
            <a:pPr marL="0" indent="0">
              <a:buNone/>
            </a:pPr>
            <a:r>
              <a:rPr lang="en-US" dirty="0">
                <a:latin typeface="Times New Roman" panose="02020603050405020304" pitchFamily="18" charset="0"/>
                <a:cs typeface="Times New Roman" panose="02020603050405020304" pitchFamily="18" charset="0"/>
              </a:rPr>
              <a:t>The main objectives of my internship are:</a:t>
            </a:r>
          </a:p>
          <a:p>
            <a:pPr lvl="1"/>
            <a:r>
              <a:rPr lang="en-US" dirty="0">
                <a:latin typeface="Times New Roman" panose="02020603050405020304" pitchFamily="18" charset="0"/>
                <a:cs typeface="Times New Roman" panose="02020603050405020304" pitchFamily="18" charset="0"/>
              </a:rPr>
              <a:t>To gain real-world software development experience</a:t>
            </a:r>
          </a:p>
          <a:p>
            <a:pPr lvl="1"/>
            <a:r>
              <a:rPr lang="en-US" dirty="0">
                <a:latin typeface="Times New Roman" panose="02020603050405020304" pitchFamily="18" charset="0"/>
                <a:cs typeface="Times New Roman" panose="02020603050405020304" pitchFamily="18" charset="0"/>
              </a:rPr>
              <a:t>To improve logical thinking and coding practices</a:t>
            </a:r>
          </a:p>
          <a:p>
            <a:pPr lvl="1"/>
            <a:r>
              <a:rPr lang="en-US" dirty="0">
                <a:latin typeface="Times New Roman" panose="02020603050405020304" pitchFamily="18" charset="0"/>
                <a:cs typeface="Times New Roman" panose="02020603050405020304" pitchFamily="18" charset="0"/>
              </a:rPr>
              <a:t>To understand the software development life cycle</a:t>
            </a:r>
          </a:p>
          <a:p>
            <a:pPr lvl="1"/>
            <a:r>
              <a:rPr lang="en-US" dirty="0">
                <a:latin typeface="Times New Roman" panose="02020603050405020304" pitchFamily="18" charset="0"/>
                <a:cs typeface="Times New Roman" panose="02020603050405020304" pitchFamily="18" charset="0"/>
              </a:rPr>
              <a:t>To build full-stack web applications</a:t>
            </a:r>
          </a:p>
          <a:p>
            <a:pPr lvl="1"/>
            <a:r>
              <a:rPr lang="en-US" dirty="0">
                <a:latin typeface="Times New Roman" panose="02020603050405020304" pitchFamily="18" charset="0"/>
                <a:cs typeface="Times New Roman" panose="02020603050405020304" pitchFamily="18" charset="0"/>
              </a:rPr>
              <a:t>To become placement-ready for corporate IT roles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25163347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latin typeface="Times New Roman" panose="02020603050405020304" pitchFamily="18" charset="0"/>
                <a:cs typeface="Times New Roman" panose="02020603050405020304" pitchFamily="18" charset="0"/>
              </a:rPr>
              <a:t>Literature</a:t>
            </a:r>
            <a:r>
              <a:rPr lang="en-US" b="1" dirty="0" smtClean="0">
                <a:latin typeface="Times New Roman" panose="02020603050405020304" pitchFamily="18" charset="0"/>
                <a:cs typeface="Times New Roman" panose="02020603050405020304" pitchFamily="18" charset="0"/>
              </a:rPr>
              <a:t> </a:t>
            </a:r>
            <a:r>
              <a:rPr lang="en-US" sz="3200" b="1" dirty="0" smtClean="0">
                <a:latin typeface="Times New Roman" panose="02020603050405020304" pitchFamily="18" charset="0"/>
                <a:cs typeface="Times New Roman" panose="02020603050405020304" pitchFamily="18" charset="0"/>
              </a:rPr>
              <a:t>Review</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51115" y="1485991"/>
            <a:ext cx="10515600" cy="4351338"/>
          </a:xfrm>
        </p:spPr>
        <p:txBody>
          <a:bodyPr>
            <a:normAutofit/>
          </a:bodyPr>
          <a:lstStyle/>
          <a:p>
            <a:r>
              <a:rPr lang="en-US" sz="2400" dirty="0">
                <a:latin typeface="Times New Roman" panose="02020603050405020304" pitchFamily="18" charset="0"/>
                <a:cs typeface="Times New Roman" panose="02020603050405020304" pitchFamily="18" charset="0"/>
              </a:rPr>
              <a:t>The study of existing learning platforms, internship-based training programs, and web development practices shows that many students lack hands-on exposure to real-world software development. Traditional academic learning focuses more on theory, while industry demands practical skills such as coding standards, version control, UI design, and </a:t>
            </a:r>
            <a:r>
              <a:rPr lang="en-US" sz="2400" dirty="0" smtClean="0">
                <a:latin typeface="Times New Roman" panose="02020603050405020304" pitchFamily="18" charset="0"/>
                <a:cs typeface="Times New Roman" panose="02020603050405020304" pitchFamily="18" charset="0"/>
              </a:rPr>
              <a:t>problem-solving.</a:t>
            </a:r>
          </a:p>
          <a:p>
            <a:r>
              <a:rPr lang="en-US" sz="2400" dirty="0" smtClean="0">
                <a:latin typeface="Times New Roman" panose="02020603050405020304" pitchFamily="18" charset="0"/>
                <a:cs typeface="Times New Roman" panose="02020603050405020304" pitchFamily="18" charset="0"/>
              </a:rPr>
              <a:t>Existing </a:t>
            </a:r>
            <a:r>
              <a:rPr lang="en-US" sz="2400" dirty="0">
                <a:latin typeface="Times New Roman" panose="02020603050405020304" pitchFamily="18" charset="0"/>
                <a:cs typeface="Times New Roman" panose="02020603050405020304" pitchFamily="18" charset="0"/>
              </a:rPr>
              <a:t>systems often provide fragmented learning—either theory-heavy courses or unstructured online tutorials. This gap highlights the need for an internship-driven, project-based learning approach that integrates </a:t>
            </a:r>
            <a:r>
              <a:rPr lang="en-US" sz="2400" b="1" dirty="0">
                <a:latin typeface="Times New Roman" panose="02020603050405020304" pitchFamily="18" charset="0"/>
                <a:cs typeface="Times New Roman" panose="02020603050405020304" pitchFamily="18" charset="0"/>
              </a:rPr>
              <a:t>HTML, CSS, JavaScript, and Core Java</a:t>
            </a:r>
            <a:r>
              <a:rPr lang="en-US" sz="2400" dirty="0">
                <a:latin typeface="Times New Roman" panose="02020603050405020304" pitchFamily="18" charset="0"/>
                <a:cs typeface="Times New Roman" panose="02020603050405020304" pitchFamily="18" charset="0"/>
              </a:rPr>
              <a:t> with real-time evaluation and mentorship.</a:t>
            </a:r>
            <a:endParaRPr lang="en-IN"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pPr/>
              <a:t>8</a:t>
            </a:fld>
            <a:endParaRPr lang="en-IN" dirty="0"/>
          </a:p>
        </p:txBody>
      </p:sp>
    </p:spTree>
    <p:extLst>
      <p:ext uri="{BB962C8B-B14F-4D97-AF65-F5344CB8AC3E}">
        <p14:creationId xmlns:p14="http://schemas.microsoft.com/office/powerpoint/2010/main" val="1868537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Proposed System / Work</a:t>
            </a:r>
          </a:p>
        </p:txBody>
      </p:sp>
      <p:sp>
        <p:nvSpPr>
          <p:cNvPr id="3" name="Content Placeholder 2"/>
          <p:cNvSpPr>
            <a:spLocks noGrp="1"/>
          </p:cNvSpPr>
          <p:nvPr>
            <p:ph idx="1"/>
          </p:nvPr>
        </p:nvSpPr>
        <p:spPr>
          <a:xfrm>
            <a:off x="838200" y="1520825"/>
            <a:ext cx="10515600" cy="4351338"/>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The proposed system focuses on a </a:t>
            </a:r>
            <a:r>
              <a:rPr lang="en-US" sz="2400" b="1" dirty="0">
                <a:latin typeface="Times New Roman" panose="02020603050405020304" pitchFamily="18" charset="0"/>
                <a:cs typeface="Times New Roman" panose="02020603050405020304" pitchFamily="18" charset="0"/>
              </a:rPr>
              <a:t>structured internship-based learning model</a:t>
            </a:r>
            <a:r>
              <a:rPr lang="en-US" sz="2400" dirty="0">
                <a:latin typeface="Times New Roman" panose="02020603050405020304" pitchFamily="18" charset="0"/>
                <a:cs typeface="Times New Roman" panose="02020603050405020304" pitchFamily="18" charset="0"/>
              </a:rPr>
              <a:t> where students gain practical experience in web development and software engineering.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work </a:t>
            </a:r>
            <a:r>
              <a:rPr lang="en-US" sz="2400" dirty="0" smtClean="0">
                <a:latin typeface="Times New Roman" panose="02020603050405020304" pitchFamily="18" charset="0"/>
                <a:cs typeface="Times New Roman" panose="02020603050405020304" pitchFamily="18" charset="0"/>
              </a:rPr>
              <a:t>includes:</a:t>
            </a:r>
          </a:p>
          <a:p>
            <a:pPr>
              <a:buFont typeface="Wingdings" panose="05000000000000000000" pitchFamily="2" charset="2"/>
              <a:buChar char="§"/>
            </a:pPr>
            <a:r>
              <a:rPr lang="en-US" sz="2400" dirty="0" smtClean="0">
                <a:latin typeface="Times New Roman" panose="02020603050405020304" pitchFamily="18" charset="0"/>
                <a:cs typeface="Times New Roman" panose="02020603050405020304" pitchFamily="18" charset="0"/>
              </a:rPr>
              <a:t>Designing </a:t>
            </a:r>
            <a:r>
              <a:rPr lang="en-US" sz="2400" dirty="0">
                <a:latin typeface="Times New Roman" panose="02020603050405020304" pitchFamily="18" charset="0"/>
                <a:cs typeface="Times New Roman" panose="02020603050405020304" pitchFamily="18" charset="0"/>
              </a:rPr>
              <a:t>web pages using </a:t>
            </a:r>
            <a:r>
              <a:rPr lang="en-US" sz="2400" b="1" dirty="0">
                <a:latin typeface="Times New Roman" panose="02020603050405020304" pitchFamily="18" charset="0"/>
                <a:cs typeface="Times New Roman" panose="02020603050405020304" pitchFamily="18" charset="0"/>
              </a:rPr>
              <a:t>HTML</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Styling and layout creation using </a:t>
            </a:r>
            <a:r>
              <a:rPr lang="en-US" sz="2400" b="1" dirty="0">
                <a:latin typeface="Times New Roman" panose="02020603050405020304" pitchFamily="18" charset="0"/>
                <a:cs typeface="Times New Roman" panose="02020603050405020304" pitchFamily="18" charset="0"/>
              </a:rPr>
              <a:t>CSS</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Applying best coding practices</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Building small modules and real-time mini projects</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Using GitHub for code management and version </a:t>
            </a:r>
            <a:r>
              <a:rPr lang="en-US" sz="2400" dirty="0" smtClean="0">
                <a:latin typeface="Times New Roman" panose="02020603050405020304" pitchFamily="18" charset="0"/>
                <a:cs typeface="Times New Roman" panose="02020603050405020304" pitchFamily="18" charset="0"/>
              </a:rPr>
              <a:t>control</a:t>
            </a:r>
          </a:p>
          <a:p>
            <a:pPr marL="0" indent="0">
              <a:buNone/>
            </a:pPr>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system bridges the gap between academic knowledge and industry expectations.</a:t>
            </a:r>
          </a:p>
        </p:txBody>
      </p:sp>
      <p:sp>
        <p:nvSpPr>
          <p:cNvPr id="4" name="Date Placeholder 3"/>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pPr/>
              <a:t>9</a:t>
            </a:fld>
            <a:endParaRPr lang="en-IN" dirty="0"/>
          </a:p>
        </p:txBody>
      </p:sp>
    </p:spTree>
    <p:extLst>
      <p:ext uri="{BB962C8B-B14F-4D97-AF65-F5344CB8AC3E}">
        <p14:creationId xmlns:p14="http://schemas.microsoft.com/office/powerpoint/2010/main" val="453548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latin typeface="Times New Roman" panose="02020603050405020304" pitchFamily="18" charset="0"/>
                <a:cs typeface="Times New Roman" panose="02020603050405020304" pitchFamily="18" charset="0"/>
              </a:rPr>
              <a:t>System </a:t>
            </a:r>
            <a:r>
              <a:rPr lang="en-IN" sz="3200" b="1" dirty="0">
                <a:latin typeface="Times New Roman" panose="02020603050405020304" pitchFamily="18" charset="0"/>
                <a:cs typeface="Times New Roman" panose="02020603050405020304" pitchFamily="18" charset="0"/>
              </a:rPr>
              <a:t>Requirements</a:t>
            </a:r>
          </a:p>
        </p:txBody>
      </p:sp>
      <p:sp>
        <p:nvSpPr>
          <p:cNvPr id="3" name="Content Placeholder 2"/>
          <p:cNvSpPr>
            <a:spLocks noGrp="1"/>
          </p:cNvSpPr>
          <p:nvPr>
            <p:ph idx="1"/>
          </p:nvPr>
        </p:nvSpPr>
        <p:spPr>
          <a:xfrm>
            <a:off x="838200" y="1690688"/>
            <a:ext cx="10515600" cy="4351338"/>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Hardware Requirements</a:t>
            </a:r>
          </a:p>
          <a:p>
            <a:r>
              <a:rPr lang="en-IN" sz="2400" dirty="0">
                <a:latin typeface="Times New Roman" panose="02020603050405020304" pitchFamily="18" charset="0"/>
                <a:cs typeface="Times New Roman" panose="02020603050405020304" pitchFamily="18" charset="0"/>
              </a:rPr>
              <a:t>Laptop/Desktop with </a:t>
            </a:r>
            <a:r>
              <a:rPr lang="en-IN" sz="2400" dirty="0" smtClean="0">
                <a:latin typeface="Times New Roman" panose="02020603050405020304" pitchFamily="18" charset="0"/>
                <a:cs typeface="Times New Roman" panose="02020603050405020304" pitchFamily="18" charset="0"/>
              </a:rPr>
              <a:t>a minimum </a:t>
            </a:r>
            <a:r>
              <a:rPr lang="en-IN" sz="2400" dirty="0">
                <a:latin typeface="Times New Roman" panose="02020603050405020304" pitchFamily="18" charset="0"/>
                <a:cs typeface="Times New Roman" panose="02020603050405020304" pitchFamily="18" charset="0"/>
              </a:rPr>
              <a:t>4 GB RAM</a:t>
            </a:r>
          </a:p>
          <a:p>
            <a:r>
              <a:rPr lang="en-IN" sz="2400" dirty="0">
                <a:latin typeface="Times New Roman" panose="02020603050405020304" pitchFamily="18" charset="0"/>
                <a:cs typeface="Times New Roman" panose="02020603050405020304" pitchFamily="18" charset="0"/>
              </a:rPr>
              <a:t>Stable internet connection</a:t>
            </a:r>
          </a:p>
          <a:p>
            <a:pPr marL="0" indent="0">
              <a:buNone/>
            </a:pPr>
            <a:r>
              <a:rPr lang="en-IN" sz="2400" b="1" dirty="0">
                <a:latin typeface="Times New Roman" panose="02020603050405020304" pitchFamily="18" charset="0"/>
                <a:cs typeface="Times New Roman" panose="02020603050405020304" pitchFamily="18" charset="0"/>
              </a:rPr>
              <a:t>Software Requirements</a:t>
            </a:r>
          </a:p>
          <a:p>
            <a:r>
              <a:rPr lang="en-IN" sz="2400" dirty="0">
                <a:latin typeface="Times New Roman" panose="02020603050405020304" pitchFamily="18" charset="0"/>
                <a:cs typeface="Times New Roman" panose="02020603050405020304" pitchFamily="18" charset="0"/>
              </a:rPr>
              <a:t>Operating System: Windows / Linux / </a:t>
            </a:r>
            <a:r>
              <a:rPr lang="en-IN" sz="2400" dirty="0" err="1">
                <a:latin typeface="Times New Roman" panose="02020603050405020304" pitchFamily="18" charset="0"/>
                <a:cs typeface="Times New Roman" panose="02020603050405020304" pitchFamily="18" charset="0"/>
              </a:rPr>
              <a:t>macOS</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Code Editor: VS Code</a:t>
            </a:r>
          </a:p>
          <a:p>
            <a:r>
              <a:rPr lang="en-IN" sz="2400" dirty="0">
                <a:latin typeface="Times New Roman" panose="02020603050405020304" pitchFamily="18" charset="0"/>
                <a:cs typeface="Times New Roman" panose="02020603050405020304" pitchFamily="18" charset="0"/>
              </a:rPr>
              <a:t>Browser: Chrome / Edge</a:t>
            </a:r>
          </a:p>
          <a:p>
            <a:r>
              <a:rPr lang="en-IN" sz="2400" dirty="0">
                <a:latin typeface="Times New Roman" panose="02020603050405020304" pitchFamily="18" charset="0"/>
                <a:cs typeface="Times New Roman" panose="02020603050405020304" pitchFamily="18" charset="0"/>
              </a:rPr>
              <a:t>Git &amp; GitHub</a:t>
            </a:r>
          </a:p>
          <a:p>
            <a:r>
              <a:rPr lang="en-IN" sz="2400" dirty="0">
                <a:latin typeface="Times New Roman" panose="02020603050405020304" pitchFamily="18" charset="0"/>
                <a:cs typeface="Times New Roman" panose="02020603050405020304" pitchFamily="18" charset="0"/>
              </a:rPr>
              <a:t>Basic tools for web development</a:t>
            </a:r>
          </a:p>
          <a:p>
            <a:endParaRPr lang="en-IN"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pPr/>
              <a:t>10</a:t>
            </a:fld>
            <a:endParaRPr lang="en-IN" dirty="0"/>
          </a:p>
        </p:txBody>
      </p:sp>
    </p:spTree>
    <p:extLst>
      <p:ext uri="{BB962C8B-B14F-4D97-AF65-F5344CB8AC3E}">
        <p14:creationId xmlns:p14="http://schemas.microsoft.com/office/powerpoint/2010/main" val="2192736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Advantages of Proposed System / Work</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Improves hands-on coding skills</a:t>
            </a:r>
          </a:p>
          <a:p>
            <a:r>
              <a:rPr lang="en-US" sz="2400" dirty="0">
                <a:latin typeface="Times New Roman" panose="02020603050405020304" pitchFamily="18" charset="0"/>
                <a:cs typeface="Times New Roman" panose="02020603050405020304" pitchFamily="18" charset="0"/>
              </a:rPr>
              <a:t>Enhances understanding of real-world software development</a:t>
            </a:r>
          </a:p>
          <a:p>
            <a:r>
              <a:rPr lang="en-US" sz="2400" dirty="0">
                <a:latin typeface="Times New Roman" panose="02020603050405020304" pitchFamily="18" charset="0"/>
                <a:cs typeface="Times New Roman" panose="02020603050405020304" pitchFamily="18" charset="0"/>
              </a:rPr>
              <a:t>Builds strong foundation in HTML and CSS</a:t>
            </a:r>
          </a:p>
          <a:p>
            <a:r>
              <a:rPr lang="en-US" sz="2400" dirty="0">
                <a:latin typeface="Times New Roman" panose="02020603050405020304" pitchFamily="18" charset="0"/>
                <a:cs typeface="Times New Roman" panose="02020603050405020304" pitchFamily="18" charset="0"/>
              </a:rPr>
              <a:t>Encourages disciplined coding practices</a:t>
            </a:r>
          </a:p>
          <a:p>
            <a:r>
              <a:rPr lang="en-US" sz="2400" dirty="0">
                <a:latin typeface="Times New Roman" panose="02020603050405020304" pitchFamily="18" charset="0"/>
                <a:cs typeface="Times New Roman" panose="02020603050405020304" pitchFamily="18" charset="0"/>
              </a:rPr>
              <a:t>Makes students industry-ready</a:t>
            </a:r>
          </a:p>
          <a:p>
            <a:r>
              <a:rPr lang="en-US" sz="2400" dirty="0">
                <a:latin typeface="Times New Roman" panose="02020603050405020304" pitchFamily="18" charset="0"/>
                <a:cs typeface="Times New Roman" panose="02020603050405020304" pitchFamily="18" charset="0"/>
              </a:rPr>
              <a:t>Improves confidence for placements and interviews</a:t>
            </a:r>
          </a:p>
        </p:txBody>
      </p:sp>
      <p:sp>
        <p:nvSpPr>
          <p:cNvPr id="4" name="Date Placeholder 3"/>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pPr/>
              <a:t>11</a:t>
            </a:fld>
            <a:endParaRPr lang="en-IN" dirty="0"/>
          </a:p>
        </p:txBody>
      </p:sp>
    </p:spTree>
    <p:extLst>
      <p:ext uri="{BB962C8B-B14F-4D97-AF65-F5344CB8AC3E}">
        <p14:creationId xmlns:p14="http://schemas.microsoft.com/office/powerpoint/2010/main" val="3462853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smtClean="0">
                <a:latin typeface="Times New Roman" panose="02020603050405020304" pitchFamily="18" charset="0"/>
                <a:cs typeface="Times New Roman" panose="02020603050405020304" pitchFamily="18" charset="0"/>
              </a:rPr>
              <a:t>Internship Road Map</a:t>
            </a:r>
            <a:endParaRPr lang="en-US" sz="32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12</a:t>
            </a:fld>
            <a:endParaRPr lang="en-US" alt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63714855"/>
              </p:ext>
            </p:extLst>
          </p:nvPr>
        </p:nvGraphicFramePr>
        <p:xfrm>
          <a:off x="838200" y="1210491"/>
          <a:ext cx="10515600" cy="4058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71002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latin typeface="Times New Roman" panose="02020603050405020304" pitchFamily="18" charset="0"/>
                <a:cs typeface="Times New Roman" panose="02020603050405020304" pitchFamily="18" charset="0"/>
              </a:rPr>
              <a:t>Phishing Detection Project (Overview)</a:t>
            </a:r>
          </a:p>
        </p:txBody>
      </p:sp>
      <p:sp>
        <p:nvSpPr>
          <p:cNvPr id="3" name="Content Placeholder 2"/>
          <p:cNvSpPr>
            <a:spLocks noGrp="1"/>
          </p:cNvSpPr>
          <p:nvPr>
            <p:ph idx="1"/>
          </p:nvPr>
        </p:nvSpPr>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Title:</a:t>
            </a:r>
            <a:r>
              <a:rPr lang="en-US" sz="2000" dirty="0">
                <a:latin typeface="Times New Roman" panose="02020603050405020304" pitchFamily="18" charset="0"/>
                <a:cs typeface="Times New Roman" panose="02020603050405020304" pitchFamily="18" charset="0"/>
              </a:rPr>
              <a:t> Phishing URL Detection System</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Detects whether a URL is Safe or Unsafe </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Protects users from phishing attacks </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Built using HTML, CSS, JavaScript </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Uses rule-based URL analysis </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Displays result with confidence </a:t>
            </a:r>
            <a:r>
              <a:rPr lang="en-US" sz="2000" dirty="0" smtClean="0">
                <a:latin typeface="Times New Roman" panose="02020603050405020304" pitchFamily="18" charset="0"/>
                <a:cs typeface="Times New Roman" panose="02020603050405020304" pitchFamily="18" charset="0"/>
              </a:rPr>
              <a:t>score </a:t>
            </a:r>
            <a:endParaRPr 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pPr/>
              <a:t>13</a:t>
            </a:fld>
            <a:endParaRPr lang="en-IN" dirty="0"/>
          </a:p>
        </p:txBody>
      </p:sp>
      <p:pic>
        <p:nvPicPr>
          <p:cNvPr id="6" name="Picture 5"/>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35932" y="1321109"/>
            <a:ext cx="2838994" cy="1596935"/>
          </a:xfrm>
          <a:prstGeom prst="rect">
            <a:avLst/>
          </a:prstGeom>
        </p:spPr>
      </p:pic>
      <p:pic>
        <p:nvPicPr>
          <p:cNvPr id="3074" name="Picture 2" descr="Phishing and cyber security"/>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6225449" y="3175096"/>
            <a:ext cx="3883025" cy="2588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850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Working &amp; Features</a:t>
            </a:r>
          </a:p>
        </p:txBody>
      </p:sp>
      <p:sp>
        <p:nvSpPr>
          <p:cNvPr id="3" name="Content Placeholder 2"/>
          <p:cNvSpPr>
            <a:spLocks noGrp="1"/>
          </p:cNvSpPr>
          <p:nvPr>
            <p:ph idx="1"/>
          </p:nvPr>
        </p:nvSpPr>
        <p:spPr>
          <a:xfrm>
            <a:off x="838200" y="1616619"/>
            <a:ext cx="10352314" cy="4287792"/>
          </a:xfrm>
        </p:spPr>
        <p:txBody>
          <a:bodyPr>
            <a:noAutofit/>
          </a:bodyPr>
          <a:lstStyle/>
          <a:p>
            <a:pPr marL="0" indent="0">
              <a:buNone/>
            </a:pPr>
            <a:r>
              <a:rPr lang="en-IN" sz="2000" b="1" dirty="0">
                <a:latin typeface="Times New Roman" panose="02020603050405020304" pitchFamily="18" charset="0"/>
                <a:cs typeface="Times New Roman" panose="02020603050405020304" pitchFamily="18" charset="0"/>
              </a:rPr>
              <a:t>Title:</a:t>
            </a:r>
            <a:r>
              <a:rPr lang="en-IN" sz="2000" dirty="0">
                <a:latin typeface="Times New Roman" panose="02020603050405020304" pitchFamily="18" charset="0"/>
                <a:cs typeface="Times New Roman" panose="02020603050405020304" pitchFamily="18" charset="0"/>
              </a:rPr>
              <a:t> System Working</a:t>
            </a:r>
          </a:p>
          <a:p>
            <a:r>
              <a:rPr lang="en-IN" sz="2000" dirty="0">
                <a:latin typeface="Times New Roman" panose="02020603050405020304" pitchFamily="18" charset="0"/>
                <a:cs typeface="Times New Roman" panose="02020603050405020304" pitchFamily="18" charset="0"/>
              </a:rPr>
              <a:t>User enters URL </a:t>
            </a:r>
          </a:p>
          <a:p>
            <a:r>
              <a:rPr lang="en-IN" sz="2000" dirty="0">
                <a:latin typeface="Times New Roman" panose="02020603050405020304" pitchFamily="18" charset="0"/>
                <a:cs typeface="Times New Roman" panose="02020603050405020304" pitchFamily="18" charset="0"/>
              </a:rPr>
              <a:t>System checks suspicious patterns </a:t>
            </a:r>
          </a:p>
          <a:p>
            <a:r>
              <a:rPr lang="en-IN" sz="2000" dirty="0" smtClean="0">
                <a:latin typeface="Times New Roman" panose="02020603050405020304" pitchFamily="18" charset="0"/>
                <a:cs typeface="Times New Roman" panose="02020603050405020304" pitchFamily="18" charset="0"/>
              </a:rPr>
              <a:t>Analyses </a:t>
            </a:r>
            <a:r>
              <a:rPr lang="en-IN" sz="2000" dirty="0">
                <a:latin typeface="Times New Roman" panose="02020603050405020304" pitchFamily="18" charset="0"/>
                <a:cs typeface="Times New Roman" panose="02020603050405020304" pitchFamily="18" charset="0"/>
              </a:rPr>
              <a:t>URL structure &amp; keywords </a:t>
            </a:r>
          </a:p>
          <a:p>
            <a:r>
              <a:rPr lang="en-IN" sz="2000" dirty="0">
                <a:latin typeface="Times New Roman" panose="02020603050405020304" pitchFamily="18" charset="0"/>
                <a:cs typeface="Times New Roman" panose="02020603050405020304" pitchFamily="18" charset="0"/>
              </a:rPr>
              <a:t>Classifies: Safe / Suspicious / Unsafe </a:t>
            </a:r>
          </a:p>
          <a:p>
            <a:r>
              <a:rPr lang="en-IN" sz="2000" dirty="0">
                <a:latin typeface="Times New Roman" panose="02020603050405020304" pitchFamily="18" charset="0"/>
                <a:cs typeface="Times New Roman" panose="02020603050405020304" pitchFamily="18" charset="0"/>
              </a:rPr>
              <a:t>Stores scan history </a:t>
            </a:r>
          </a:p>
          <a:p>
            <a:pPr marL="0" indent="0">
              <a:buNone/>
            </a:pPr>
            <a:r>
              <a:rPr lang="en-IN" sz="2000" b="1" dirty="0">
                <a:latin typeface="Times New Roman" panose="02020603050405020304" pitchFamily="18" charset="0"/>
                <a:cs typeface="Times New Roman" panose="02020603050405020304" pitchFamily="18" charset="0"/>
              </a:rPr>
              <a:t>Features: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Real-time detection </a:t>
            </a:r>
          </a:p>
          <a:p>
            <a:r>
              <a:rPr lang="en-IN" sz="2000" dirty="0">
                <a:latin typeface="Times New Roman" panose="02020603050405020304" pitchFamily="18" charset="0"/>
                <a:cs typeface="Times New Roman" panose="02020603050405020304" pitchFamily="18" charset="0"/>
              </a:rPr>
              <a:t>Confidence level display </a:t>
            </a:r>
          </a:p>
          <a:p>
            <a:r>
              <a:rPr lang="en-IN" sz="2000" dirty="0">
                <a:latin typeface="Times New Roman" panose="02020603050405020304" pitchFamily="18" charset="0"/>
                <a:cs typeface="Times New Roman" panose="02020603050405020304" pitchFamily="18" charset="0"/>
              </a:rPr>
              <a:t>Reset scan history option </a:t>
            </a:r>
          </a:p>
          <a:p>
            <a:r>
              <a:rPr lang="en-IN" sz="2000" dirty="0">
                <a:latin typeface="Times New Roman" panose="02020603050405020304" pitchFamily="18" charset="0"/>
                <a:cs typeface="Times New Roman" panose="02020603050405020304" pitchFamily="18" charset="0"/>
              </a:rPr>
              <a:t>Simple UI</a:t>
            </a:r>
          </a:p>
        </p:txBody>
      </p:sp>
      <p:sp>
        <p:nvSpPr>
          <p:cNvPr id="4" name="Date Placeholder 3"/>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pPr/>
              <a:t>14</a:t>
            </a:fld>
            <a:endParaRPr lang="en-IN" dirty="0"/>
          </a:p>
        </p:txBody>
      </p:sp>
      <p:pic>
        <p:nvPicPr>
          <p:cNvPr id="7" name="Picture 6"/>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718149" y="435537"/>
            <a:ext cx="3391051" cy="1907463"/>
          </a:xfrm>
          <a:prstGeom prst="rect">
            <a:avLst/>
          </a:prstGeom>
        </p:spPr>
      </p:pic>
      <p:pic>
        <p:nvPicPr>
          <p:cNvPr id="2050" name="Picture 2" descr="Computer Vision and Phishing Protection: FAQS - Visua.c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5408" y="2439933"/>
            <a:ext cx="5986749" cy="33675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130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Results &amp; Advantages</a:t>
            </a:r>
          </a:p>
        </p:txBody>
      </p:sp>
      <p:sp>
        <p:nvSpPr>
          <p:cNvPr id="3" name="Content Placeholder 2"/>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Results and Benefits</a:t>
            </a:r>
          </a:p>
          <a:p>
            <a:r>
              <a:rPr lang="en-US" sz="2400" dirty="0">
                <a:latin typeface="Times New Roman" panose="02020603050405020304" pitchFamily="18" charset="0"/>
                <a:cs typeface="Times New Roman" panose="02020603050405020304" pitchFamily="18" charset="0"/>
              </a:rPr>
              <a:t>Successfully detects unsafe links </a:t>
            </a:r>
          </a:p>
          <a:p>
            <a:r>
              <a:rPr lang="en-US" sz="2400" dirty="0">
                <a:latin typeface="Times New Roman" panose="02020603050405020304" pitchFamily="18" charset="0"/>
                <a:cs typeface="Times New Roman" panose="02020603050405020304" pitchFamily="18" charset="0"/>
              </a:rPr>
              <a:t>Helps prevent data theft </a:t>
            </a:r>
          </a:p>
          <a:p>
            <a:r>
              <a:rPr lang="en-US" sz="2400" dirty="0">
                <a:latin typeface="Times New Roman" panose="02020603050405020304" pitchFamily="18" charset="0"/>
                <a:cs typeface="Times New Roman" panose="02020603050405020304" pitchFamily="18" charset="0"/>
              </a:rPr>
              <a:t>Easy to use interface </a:t>
            </a:r>
          </a:p>
          <a:p>
            <a:r>
              <a:rPr lang="en-US" sz="2400" dirty="0">
                <a:latin typeface="Times New Roman" panose="02020603050405020304" pitchFamily="18" charset="0"/>
                <a:cs typeface="Times New Roman" panose="02020603050405020304" pitchFamily="18" charset="0"/>
              </a:rPr>
              <a:t>No technical knowledge required </a:t>
            </a:r>
          </a:p>
          <a:p>
            <a:r>
              <a:rPr lang="en-US" sz="2400" dirty="0">
                <a:latin typeface="Times New Roman" panose="02020603050405020304" pitchFamily="18" charset="0"/>
                <a:cs typeface="Times New Roman" panose="02020603050405020304" pitchFamily="18" charset="0"/>
              </a:rPr>
              <a:t>Can be extended using AI/ML</a:t>
            </a:r>
          </a:p>
        </p:txBody>
      </p:sp>
      <p:sp>
        <p:nvSpPr>
          <p:cNvPr id="4" name="Date Placeholder 3"/>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pPr/>
              <a:t>15</a:t>
            </a:fld>
            <a:endParaRPr lang="en-IN" dirty="0"/>
          </a:p>
        </p:txBody>
      </p:sp>
      <p:pic>
        <p:nvPicPr>
          <p:cNvPr id="1026" name="Picture 2" descr="Mobile App Interface Concept - Success and Error Message on Smartphone Screen"/>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5834743" y="2595473"/>
            <a:ext cx="4703299" cy="31347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9822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smtClean="0">
                <a:latin typeface="Times New Roman" panose="02020603050405020304" pitchFamily="18" charset="0"/>
                <a:cs typeface="Times New Roman" panose="02020603050405020304" pitchFamily="18" charset="0"/>
              </a:rPr>
              <a:t>Github Link</a:t>
            </a:r>
            <a:endParaRPr lang="en-US" sz="32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16</a:t>
            </a:fld>
            <a:endParaRPr lang="en-US" altLang="en-US"/>
          </a:p>
        </p:txBody>
      </p:sp>
      <p:sp>
        <p:nvSpPr>
          <p:cNvPr id="3" name="Content Placeholder 2"/>
          <p:cNvSpPr>
            <a:spLocks noGrp="1"/>
          </p:cNvSpPr>
          <p:nvPr>
            <p:ph idx="1"/>
          </p:nvPr>
        </p:nvSpPr>
        <p:spPr>
          <a:xfrm>
            <a:off x="446308" y="1061297"/>
            <a:ext cx="10515600" cy="4351338"/>
          </a:xfrm>
        </p:spPr>
        <p:txBody>
          <a:bodyPr/>
          <a:lstStyle/>
          <a:p>
            <a:r>
              <a:rPr lang="en-US" dirty="0" smtClean="0">
                <a:latin typeface="Times New Roman" panose="02020603050405020304" pitchFamily="18" charset="0"/>
                <a:cs typeface="Times New Roman" panose="02020603050405020304" pitchFamily="18" charset="0"/>
                <a:hlinkClick r:id="rId2"/>
              </a:rPr>
              <a:t>https://github.com/135Deepak/Internship-report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6213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smtClean="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smtClean="0">
                <a:solidFill>
                  <a:srgbClr val="FFFF00"/>
                </a:solidFill>
                <a:latin typeface="Times New Roman" panose="02020603050405020304" pitchFamily="18" charset="0"/>
                <a:cs typeface="Times New Roman" panose="02020603050405020304" pitchFamily="18" charset="0"/>
              </a:rPr>
              <a:t> </a:t>
            </a:r>
            <a:r>
              <a:rPr lang="en-US" sz="6600" dirty="0" smtClean="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17</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smtClean="0">
                <a:solidFill>
                  <a:srgbClr val="A71180"/>
                </a:solidFill>
                <a:latin typeface="Times New Roman" panose="02020603050405020304" pitchFamily="18" charset="0"/>
                <a:cs typeface="Times New Roman" panose="02020603050405020304" pitchFamily="18" charset="0"/>
              </a:rPr>
              <a:t>Thank you !!</a:t>
            </a: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18</a:t>
            </a:fld>
            <a:endParaRPr lang="en-US" altLang="en-US"/>
          </a:p>
        </p:txBody>
      </p:sp>
    </p:spTree>
    <p:extLst>
      <p:ext uri="{BB962C8B-B14F-4D97-AF65-F5344CB8AC3E}">
        <p14:creationId xmlns:p14="http://schemas.microsoft.com/office/powerpoint/2010/main" val="6966059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7085</TotalTime>
  <Words>872</Words>
  <Application>Microsoft Office PowerPoint</Application>
  <PresentationFormat>Widescreen</PresentationFormat>
  <Paragraphs>158</Paragraphs>
  <Slides>18</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Calibri</vt:lpstr>
      <vt:lpstr>Calibri Light</vt:lpstr>
      <vt:lpstr>Cambria</vt:lpstr>
      <vt:lpstr>Tahoma</vt:lpstr>
      <vt:lpstr>Times New Roman</vt:lpstr>
      <vt:lpstr>Verdana</vt:lpstr>
      <vt:lpstr>Wingdings</vt:lpstr>
      <vt:lpstr>Office Theme</vt:lpstr>
      <vt:lpstr>PowerPoint Presentation</vt:lpstr>
      <vt:lpstr>Content</vt:lpstr>
      <vt:lpstr>About Company </vt:lpstr>
      <vt:lpstr>Working domain</vt:lpstr>
      <vt:lpstr>About your team and reporting Manager</vt:lpstr>
      <vt:lpstr>Challenges Faced in Internship</vt:lpstr>
      <vt:lpstr>Objectives of the work</vt:lpstr>
      <vt:lpstr>Literature Review</vt:lpstr>
      <vt:lpstr>Proposed System / Work</vt:lpstr>
      <vt:lpstr>System Requirements</vt:lpstr>
      <vt:lpstr>Advantages of Proposed System / Work</vt:lpstr>
      <vt:lpstr>Internship Road Map</vt:lpstr>
      <vt:lpstr>Phishing Detection Project (Overview)</vt:lpstr>
      <vt:lpstr>Working &amp; Features</vt:lpstr>
      <vt:lpstr>Results &amp; Advantages</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Dell-15</cp:lastModifiedBy>
  <cp:revision>732</cp:revision>
  <dcterms:created xsi:type="dcterms:W3CDTF">2022-10-14T07:18:17Z</dcterms:created>
  <dcterms:modified xsi:type="dcterms:W3CDTF">2026-04-23T03:02:50Z</dcterms:modified>
</cp:coreProperties>
</file>