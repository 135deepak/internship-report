
<file path=[Content_Types].xml><?xml version="1.0" encoding="utf-8"?>
<Types xmlns="http://schemas.openxmlformats.org/package/2006/content-types">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9" r:id="rId2"/>
    <p:sldId id="260" r:id="rId3"/>
    <p:sldId id="261" r:id="rId4"/>
    <p:sldId id="262" r:id="rId5"/>
    <p:sldId id="263" r:id="rId6"/>
    <p:sldId id="264" r:id="rId7"/>
    <p:sldId id="265" r:id="rId8"/>
    <p:sldId id="266"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8" d="100"/>
          <a:sy n="88" d="100"/>
        </p:scale>
        <p:origin x="60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pPr algn="l"/>
          <a:r>
            <a:rPr lang="en-US" sz="2000" dirty="0" smtClean="0">
              <a:latin typeface="Times New Roman" panose="02020603050405020304" pitchFamily="18" charset="0"/>
              <a:cs typeface="Times New Roman" panose="02020603050405020304" pitchFamily="18" charset="0"/>
            </a:rPr>
            <a:t>Core Java, </a:t>
          </a:r>
          <a:r>
            <a:rPr lang="en-US" sz="1800" dirty="0" smtClean="0">
              <a:latin typeface="Times New Roman" panose="02020603050405020304" pitchFamily="18" charset="0"/>
              <a:cs typeface="Times New Roman" panose="02020603050405020304" pitchFamily="18" charset="0"/>
            </a:rPr>
            <a:t>HTML</a:t>
          </a:r>
          <a:r>
            <a:rPr lang="en-US" sz="2000" dirty="0" smtClean="0">
              <a:latin typeface="Times New Roman" panose="02020603050405020304" pitchFamily="18" charset="0"/>
              <a:cs typeface="Times New Roman" panose="02020603050405020304" pitchFamily="18" charset="0"/>
            </a:rPr>
            <a:t>, CSS basics</a:t>
          </a:r>
          <a:endParaRPr lang="en-US" sz="200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custT="1"/>
      <dgm:spPr/>
      <dgm:t>
        <a:bodyPr/>
        <a:lstStyle/>
        <a:p>
          <a:pPr algn="l"/>
          <a:endParaRPr lang="en-US" sz="18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custT="1"/>
      <dgm:spPr/>
      <dgm:t>
        <a:bodyPr/>
        <a:lstStyle/>
        <a:p>
          <a:pPr algn="l"/>
          <a:endParaRPr lang="en-US" sz="20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F89B0757-982C-4F5E-B4F3-B79021DEA94B}">
      <dgm:prSet custT="1"/>
      <dgm:spPr/>
      <dgm:t>
        <a:bodyPr/>
        <a:lstStyle/>
        <a:p>
          <a:pPr algn="l"/>
          <a:r>
            <a:rPr lang="en-US" sz="1800" dirty="0">
              <a:latin typeface="Times New Roman" panose="02020603050405020304" pitchFamily="18" charset="0"/>
              <a:cs typeface="Times New Roman" panose="02020603050405020304" pitchFamily="18" charset="0"/>
            </a:rPr>
            <a:t>JavaScript, SQL, Database Handling</a:t>
          </a:r>
          <a:endParaRPr lang="en-US" sz="1800" dirty="0">
            <a:latin typeface="Times New Roman" panose="02020603050405020304" pitchFamily="18" charset="0"/>
            <a:cs typeface="Times New Roman" panose="02020603050405020304" pitchFamily="18" charset="0"/>
          </a:endParaRPr>
        </a:p>
      </dgm:t>
    </dgm:pt>
    <dgm:pt modelId="{F0DABE2D-18E9-4031-BF6B-D778B22AD859}" type="parTrans" cxnId="{9571504A-049E-4F79-B93C-1CDD1B52FA35}">
      <dgm:prSet/>
      <dgm:spPr/>
      <dgm:t>
        <a:bodyPr/>
        <a:lstStyle/>
        <a:p>
          <a:endParaRPr lang="en-US"/>
        </a:p>
      </dgm:t>
    </dgm:pt>
    <dgm:pt modelId="{CE51DA9B-2535-41DA-BFC8-386915F86000}" type="sibTrans" cxnId="{9571504A-049E-4F79-B93C-1CDD1B52FA35}">
      <dgm:prSet/>
      <dgm:spPr/>
      <dgm:t>
        <a:bodyPr/>
        <a:lstStyle/>
        <a:p>
          <a:endParaRPr lang="en-US"/>
        </a:p>
      </dgm:t>
    </dgm:pt>
    <dgm:pt modelId="{BBAEEADC-60A3-4F79-A1CD-6EDDCB553580}">
      <dgm:prSet custT="1"/>
      <dgm:spPr/>
      <dgm:t>
        <a:bodyPr/>
        <a:lstStyle/>
        <a:p>
          <a:pPr algn="l"/>
          <a:r>
            <a:rPr lang="en-US" sz="2000" dirty="0">
              <a:latin typeface="Times New Roman" panose="02020603050405020304" pitchFamily="18" charset="0"/>
              <a:cs typeface="Times New Roman" panose="02020603050405020304" pitchFamily="18" charset="0"/>
            </a:rPr>
            <a:t>Full Stack Project Development</a:t>
          </a:r>
          <a:endParaRPr lang="en-US" sz="2000" dirty="0">
            <a:latin typeface="Times New Roman" panose="02020603050405020304" pitchFamily="18" charset="0"/>
            <a:cs typeface="Times New Roman" panose="02020603050405020304" pitchFamily="18" charset="0"/>
          </a:endParaRPr>
        </a:p>
      </dgm:t>
    </dgm:pt>
    <dgm:pt modelId="{6334BAD6-947B-45FB-AB68-018A1982B517}" type="parTrans" cxnId="{87CE19EF-0C01-4255-9B67-E27FD4FA638A}">
      <dgm:prSet/>
      <dgm:spPr/>
      <dgm:t>
        <a:bodyPr/>
        <a:lstStyle/>
        <a:p>
          <a:endParaRPr lang="en-US"/>
        </a:p>
      </dgm:t>
    </dgm:pt>
    <dgm:pt modelId="{F1F800F4-DC51-42FB-9DFC-637045F7A8FD}" type="sibTrans" cxnId="{87CE19EF-0C01-4255-9B67-E27FD4FA638A}">
      <dgm:prSet/>
      <dgm:spPr/>
      <dgm:t>
        <a:bodyPr/>
        <a:lstStyle/>
        <a:p>
          <a:endParaRPr lang="en-US"/>
        </a:p>
      </dgm:t>
    </dgm:pt>
    <dgm:pt modelId="{BF0F5C01-D5AF-43F9-8603-C6B1C1C09F28}">
      <dgm:prSet custT="1"/>
      <dgm:spPr/>
      <dgm:t>
        <a:bodyPr/>
        <a:lstStyle/>
        <a:p>
          <a:pPr algn="l"/>
          <a:r>
            <a:rPr lang="en-US" sz="2000" smtClean="0">
              <a:latin typeface="Times New Roman" panose="02020603050405020304" pitchFamily="18" charset="0"/>
              <a:cs typeface="Times New Roman" panose="02020603050405020304" pitchFamily="18" charset="0"/>
            </a:rPr>
            <a:t>AI-Agentic Coding and Advanced Modules</a:t>
          </a:r>
          <a:endParaRPr lang="en-US" sz="2000">
            <a:latin typeface="Times New Roman" panose="02020603050405020304" pitchFamily="18" charset="0"/>
            <a:cs typeface="Times New Roman" panose="02020603050405020304" pitchFamily="18" charset="0"/>
          </a:endParaRPr>
        </a:p>
      </dgm:t>
    </dgm:pt>
    <dgm:pt modelId="{4AF35373-4D9C-4137-87DB-9CEB389292C3}" type="parTrans" cxnId="{8FB1959D-0B1B-4473-AC72-5E8FCBD474F0}">
      <dgm:prSet/>
      <dgm:spPr/>
      <dgm:t>
        <a:bodyPr/>
        <a:lstStyle/>
        <a:p>
          <a:endParaRPr lang="en-US"/>
        </a:p>
      </dgm:t>
    </dgm:pt>
    <dgm:pt modelId="{3ED63EFE-7A85-414E-8957-9D7E0A2B02B1}" type="sibTrans" cxnId="{8FB1959D-0B1B-4473-AC72-5E8FCBD474F0}">
      <dgm:prSet/>
      <dgm:spPr/>
      <dgm:t>
        <a:bodyPr/>
        <a:lstStyle/>
        <a:p>
          <a:endParaRPr lang="en-US"/>
        </a:p>
      </dgm:t>
    </dgm:pt>
    <dgm:pt modelId="{0EA27F18-066F-4F05-8FD6-9A77E2CA7B86}">
      <dgm:prSet custT="1"/>
      <dgm:spPr/>
      <dgm:t>
        <a:bodyPr/>
        <a:lstStyle/>
        <a:p>
          <a:pPr algn="l"/>
          <a:r>
            <a:rPr lang="en-US" sz="2000" smtClean="0">
              <a:latin typeface="Times New Roman" panose="02020603050405020304" pitchFamily="18" charset="0"/>
              <a:cs typeface="Times New Roman" panose="02020603050405020304" pitchFamily="18" charset="0"/>
            </a:rPr>
            <a:t>Final Project, Placement Readiness &amp; Evaluation</a:t>
          </a:r>
          <a:endParaRPr lang="en-US" sz="2000">
            <a:latin typeface="Times New Roman" panose="02020603050405020304" pitchFamily="18" charset="0"/>
            <a:cs typeface="Times New Roman" panose="02020603050405020304" pitchFamily="18" charset="0"/>
          </a:endParaRPr>
        </a:p>
      </dgm:t>
    </dgm:pt>
    <dgm:pt modelId="{81F97F26-20F6-4767-BBB0-AD94D89C77F5}" type="parTrans" cxnId="{CCF69CD8-A115-42E7-B934-2E5BE4B45BAF}">
      <dgm:prSet/>
      <dgm:spPr/>
      <dgm:t>
        <a:bodyPr/>
        <a:lstStyle/>
        <a:p>
          <a:endParaRPr lang="en-US"/>
        </a:p>
      </dgm:t>
    </dgm:pt>
    <dgm:pt modelId="{397275D0-F8C2-4B54-8160-119BB409C6FA}" type="sibTrans" cxnId="{CCF69CD8-A115-42E7-B934-2E5BE4B45BAF}">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custScaleX="113913"/>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A6532C16-AFEE-4EEA-891E-F5DAB7412E13}" type="presOf" srcId="{73DB572E-062D-41AD-8033-D361B8E583DB}" destId="{2532504F-5FE1-4C97-B485-F05E8885EAC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CE04E6A8-8508-4D96-A2F8-BF1CAD769356}" type="presOf" srcId="{BBAEEADC-60A3-4F79-A1CD-6EDDCB553580}" destId="{2532504F-5FE1-4C97-B485-F05E8885EACC}" srcOrd="0" destOrd="1"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ABAF6EAD-D06E-4FBC-AFE6-70FB7AADF403}" type="presOf" srcId="{F89B0757-982C-4F5E-B4F3-B79021DEA94B}" destId="{06F8D57B-EDF4-4CF4-8700-DC2CA3E3028E}" srcOrd="0" destOrd="1"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E8CF695E-C6BC-4EC7-BC96-608641215788}" type="presOf" srcId="{BBAEEADC-60A3-4F79-A1CD-6EDDCB553580}" destId="{0D08ED52-6744-4369-B780-916B09984775}" srcOrd="1" destOrd="1"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DA8CD5E8-B2EE-41E4-8EC6-CFB41D688F68}" srcId="{5751524B-FB67-4894-A0C5-35151E149D68}" destId="{5E92505A-51E0-4F78-B3C5-704ACF8710DE}" srcOrd="3" destOrd="0" parTransId="{765B1266-7CE2-4F9C-AE38-D97DFBC1B151}" sibTransId="{5E9E6A6F-635A-4791-A107-01E95B62EA08}"/>
    <dgm:cxn modelId="{DCBBD912-689F-4398-945B-50D7C906D480}" type="presOf" srcId="{65C051F6-A849-4495-A964-CD4C650B9C06}" destId="{C73DE52A-2F45-45E6-AD0E-D5BEAF609F8E}"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87CE19EF-0C01-4255-9B67-E27FD4FA638A}" srcId="{A59EC69B-8F3F-425B-819F-E8C557946AEE}" destId="{BBAEEADC-60A3-4F79-A1CD-6EDDCB553580}" srcOrd="1" destOrd="0" parTransId="{6334BAD6-947B-45FB-AB68-018A1982B517}" sibTransId="{F1F800F4-DC51-42FB-9DFC-637045F7A8FD}"/>
    <dgm:cxn modelId="{8CB593F6-6C5D-4606-B959-3E27F9872EC1}" srcId="{5751524B-FB67-4894-A0C5-35151E149D68}" destId="{988D96B0-D16E-4763-B393-84178CF4FF50}" srcOrd="0" destOrd="0" parTransId="{080A6B9D-C27D-4227-AC65-3C97878D78C4}" sibTransId="{19B27CEC-4BAD-44A7-A9A7-B7A8B23ADCFD}"/>
    <dgm:cxn modelId="{56F3F0BD-940E-43BA-95C6-2A28B8DBD17C}" type="presOf" srcId="{0EA27F18-066F-4F05-8FD6-9A77E2CA7B86}" destId="{928B615F-0F8D-4140-A638-0FBB8F5BF1E9}" srcOrd="1"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CCF69CD8-A115-42E7-B934-2E5BE4B45BAF}" srcId="{65C051F6-A849-4495-A964-CD4C650B9C06}" destId="{0EA27F18-066F-4F05-8FD6-9A77E2CA7B86}" srcOrd="0" destOrd="0" parTransId="{81F97F26-20F6-4767-BBB0-AD94D89C77F5}" sibTransId="{397275D0-F8C2-4B54-8160-119BB409C6FA}"/>
    <dgm:cxn modelId="{6C7D4BBB-EED6-4011-9FBC-87F683D5B245}" srcId="{5751524B-FB67-4894-A0C5-35151E149D68}" destId="{7B3055AA-BF7C-46D0-9A9E-60087B9F57B4}" srcOrd="1" destOrd="0" parTransId="{F772EF41-D2BB-4368-8327-B4E332165F48}" sibTransId="{B81593E2-4CAC-4783-8D2D-E9DDD236A942}"/>
    <dgm:cxn modelId="{58E76652-C24F-44B0-96A9-DDF4DA4C870A}" type="presOf" srcId="{7B3055AA-BF7C-46D0-9A9E-60087B9F57B4}" destId="{00BB3360-A9BB-4051-A4B1-1216F82F642C}" srcOrd="0" destOrd="0" presId="urn:microsoft.com/office/officeart/2011/layout/InterconnectedBlockProcess"/>
    <dgm:cxn modelId="{940B4C9B-D5E4-4E48-A872-B455F86EA2F7}" type="presOf" srcId="{D471E45F-B026-44AA-9616-57E786AE80AF}" destId="{1C91D7E3-8940-4A33-9182-677DD5415901}" srcOrd="1"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E6B70501-CFCB-4D4A-94BE-F63036069196}" type="presOf" srcId="{5751524B-FB67-4894-A0C5-35151E149D68}" destId="{A6BCDA7B-D633-438F-B44D-CB4D60E5C492}" srcOrd="0" destOrd="0" presId="urn:microsoft.com/office/officeart/2011/layout/InterconnectedBlockProcess"/>
    <dgm:cxn modelId="{DB74FFAE-8E03-41AE-89BA-6CDBCCDB9934}" type="presOf" srcId="{BF0F5C01-D5AF-43F9-8603-C6B1C1C09F28}" destId="{98225A61-A0EC-450A-BED8-EF2E47E8FD18}" srcOrd="1" destOrd="0" presId="urn:microsoft.com/office/officeart/2011/layout/InterconnectedBlockProcess"/>
    <dgm:cxn modelId="{946B973B-7CB6-48C4-A03A-8A8A9FFDCACD}" type="presOf" srcId="{F89B0757-982C-4F5E-B4F3-B79021DEA94B}" destId="{6BCCFBA6-7A43-4631-AD7F-AFB10E1E6CD7}" srcOrd="1" destOrd="1" presId="urn:microsoft.com/office/officeart/2011/layout/InterconnectedBlockProcess"/>
    <dgm:cxn modelId="{8FB1959D-0B1B-4473-AC72-5E8FCBD474F0}" srcId="{5E92505A-51E0-4F78-B3C5-704ACF8710DE}" destId="{BF0F5C01-D5AF-43F9-8603-C6B1C1C09F28}" srcOrd="0" destOrd="0" parTransId="{4AF35373-4D9C-4137-87DB-9CEB389292C3}" sibTransId="{3ED63EFE-7A85-414E-8957-9D7E0A2B02B1}"/>
    <dgm:cxn modelId="{E94CD512-E47E-4B2A-8B42-1BBD0CE921B4}" type="presOf" srcId="{D471E45F-B026-44AA-9616-57E786AE80AF}" destId="{A134CDD1-D85F-44EF-8BEE-9F99A855C1E6}" srcOrd="0"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7F8F98D9-5E43-4B78-AC28-03EB59A26D8B}" type="presOf" srcId="{0EA27F18-066F-4F05-8FD6-9A77E2CA7B86}" destId="{8CAE5A4D-0C7B-48A6-917B-0B8433D0574B}" srcOrd="0" destOrd="0" presId="urn:microsoft.com/office/officeart/2011/layout/InterconnectedBlockProcess"/>
    <dgm:cxn modelId="{E1855974-7D77-4176-9A5E-8A5494BE44C7}" type="presOf" srcId="{BF0F5C01-D5AF-43F9-8603-C6B1C1C09F28}" destId="{FC0F1314-3294-4A8C-8DCE-EB53E236164C}"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571504A-049E-4F79-B93C-1CDD1B52FA35}" srcId="{7B3055AA-BF7C-46D0-9A9E-60087B9F57B4}" destId="{F89B0757-982C-4F5E-B4F3-B79021DEA94B}" srcOrd="1" destOrd="0" parTransId="{F0DABE2D-18E9-4031-BF6B-D778B22AD859}" sibTransId="{CE51DA9B-2535-41DA-BFC8-386915F86000}"/>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040294" y="811638"/>
          <a:ext cx="1456173"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Final Project, Placement Readiness &amp; Evaluation</a:t>
          </a:r>
          <a:endParaRPr lang="en-US" sz="2000" kern="1200">
            <a:latin typeface="Times New Roman" panose="02020603050405020304" pitchFamily="18" charset="0"/>
            <a:cs typeface="Times New Roman" panose="02020603050405020304" pitchFamily="18" charset="0"/>
          </a:endParaRPr>
        </a:p>
      </dsp:txBody>
      <dsp:txXfrm>
        <a:off x="7225136" y="811638"/>
        <a:ext cx="1271332" cy="3246556"/>
      </dsp:txXfrm>
    </dsp:sp>
    <dsp:sp modelId="{C73DE52A-2F45-45E6-AD0E-D5BEAF609F8E}">
      <dsp:nvSpPr>
        <dsp:cNvPr id="0" name=""/>
        <dsp:cNvSpPr/>
      </dsp:nvSpPr>
      <dsp:spPr>
        <a:xfrm>
          <a:off x="7129221"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Final Review</a:t>
          </a:r>
          <a:endParaRPr lang="en-US" sz="2000" kern="1200" dirty="0">
            <a:latin typeface="Times New Roman" panose="02020603050405020304" pitchFamily="18" charset="0"/>
            <a:cs typeface="Times New Roman" panose="02020603050405020304" pitchFamily="18" charset="0"/>
          </a:endParaRPr>
        </a:p>
      </dsp:txBody>
      <dsp:txXfrm>
        <a:off x="7129221" y="0"/>
        <a:ext cx="1278320" cy="811639"/>
      </dsp:txXfrm>
    </dsp:sp>
    <dsp:sp modelId="{FC0F1314-3294-4A8C-8DCE-EB53E236164C}">
      <dsp:nvSpPr>
        <dsp:cNvPr id="0" name=""/>
        <dsp:cNvSpPr/>
      </dsp:nvSpPr>
      <dsp:spPr>
        <a:xfrm>
          <a:off x="5854094" y="81163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AI-Agentic Coding and Advanced Modules</a:t>
          </a:r>
          <a:endParaRPr lang="en-US" sz="2000" kern="1200">
            <a:latin typeface="Times New Roman" panose="02020603050405020304" pitchFamily="18" charset="0"/>
            <a:cs typeface="Times New Roman" panose="02020603050405020304" pitchFamily="18" charset="0"/>
          </a:endParaRPr>
        </a:p>
      </dsp:txBody>
      <dsp:txXfrm>
        <a:off x="6016360" y="811638"/>
        <a:ext cx="1116055" cy="3043646"/>
      </dsp:txXfrm>
    </dsp:sp>
    <dsp:sp modelId="{2AAD338D-3122-4454-9A67-16BE024D44E3}">
      <dsp:nvSpPr>
        <dsp:cNvPr id="0" name=""/>
        <dsp:cNvSpPr/>
      </dsp:nvSpPr>
      <dsp:spPr>
        <a:xfrm>
          <a:off x="5854094"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4</a:t>
          </a:r>
          <a:endParaRPr lang="en-US" sz="2000" kern="1200" dirty="0">
            <a:latin typeface="Times New Roman" panose="02020603050405020304" pitchFamily="18" charset="0"/>
            <a:cs typeface="Times New Roman" panose="02020603050405020304" pitchFamily="18" charset="0"/>
          </a:endParaRPr>
        </a:p>
      </dsp:txBody>
      <dsp:txXfrm>
        <a:off x="5854094" y="101454"/>
        <a:ext cx="1278320" cy="710184"/>
      </dsp:txXfrm>
    </dsp:sp>
    <dsp:sp modelId="{2532504F-5FE1-4C97-B485-F05E8885EACC}">
      <dsp:nvSpPr>
        <dsp:cNvPr id="0" name=""/>
        <dsp:cNvSpPr/>
      </dsp:nvSpPr>
      <dsp:spPr>
        <a:xfrm>
          <a:off x="4575773" y="811638"/>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endParaRPr lang="en-US" sz="2000" kern="1200" dirty="0">
            <a:latin typeface="Times New Roman" panose="02020603050405020304" pitchFamily="18" charset="0"/>
            <a:cs typeface="Times New Roman" panose="02020603050405020304" pitchFamily="18" charset="0"/>
          </a:endParaRPr>
        </a:p>
        <a:p>
          <a:pPr lvl="0" algn="l" defTabSz="889000">
            <a:lnSpc>
              <a:spcPct val="90000"/>
            </a:lnSpc>
            <a:spcBef>
              <a:spcPct val="0"/>
            </a:spcBef>
            <a:spcAft>
              <a:spcPct val="35000"/>
            </a:spcAft>
          </a:pPr>
          <a:r>
            <a:rPr lang="en-US" sz="2000" kern="1200" dirty="0">
              <a:latin typeface="Times New Roman" panose="02020603050405020304" pitchFamily="18" charset="0"/>
              <a:cs typeface="Times New Roman" panose="02020603050405020304" pitchFamily="18" charset="0"/>
            </a:rPr>
            <a:t>Full Stack Project Development</a:t>
          </a:r>
          <a:endParaRPr lang="en-US" sz="2000" kern="1200" dirty="0">
            <a:latin typeface="Times New Roman" panose="02020603050405020304" pitchFamily="18" charset="0"/>
            <a:cs typeface="Times New Roman" panose="02020603050405020304" pitchFamily="18" charset="0"/>
          </a:endParaRPr>
        </a:p>
      </dsp:txBody>
      <dsp:txXfrm>
        <a:off x="4738039" y="811638"/>
        <a:ext cx="1116055" cy="2840736"/>
      </dsp:txXfrm>
    </dsp:sp>
    <dsp:sp modelId="{4C66D42D-7E6D-4563-AFDC-369C30B73F70}">
      <dsp:nvSpPr>
        <dsp:cNvPr id="0" name=""/>
        <dsp:cNvSpPr/>
      </dsp:nvSpPr>
      <dsp:spPr>
        <a:xfrm>
          <a:off x="4575773"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3</a:t>
          </a:r>
          <a:endParaRPr lang="en-US" sz="2000" kern="1200" dirty="0">
            <a:latin typeface="Times New Roman" panose="02020603050405020304" pitchFamily="18" charset="0"/>
            <a:cs typeface="Times New Roman" panose="02020603050405020304" pitchFamily="18" charset="0"/>
          </a:endParaRPr>
        </a:p>
      </dsp:txBody>
      <dsp:txXfrm>
        <a:off x="4575773" y="206156"/>
        <a:ext cx="1278320" cy="608729"/>
      </dsp:txXfrm>
    </dsp:sp>
    <dsp:sp modelId="{06F8D57B-EDF4-4CF4-8700-DC2CA3E3028E}">
      <dsp:nvSpPr>
        <dsp:cNvPr id="0" name=""/>
        <dsp:cNvSpPr/>
      </dsp:nvSpPr>
      <dsp:spPr>
        <a:xfrm>
          <a:off x="3297452" y="811638"/>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800100">
            <a:lnSpc>
              <a:spcPct val="90000"/>
            </a:lnSpc>
            <a:spcBef>
              <a:spcPct val="0"/>
            </a:spcBef>
            <a:spcAft>
              <a:spcPct val="35000"/>
            </a:spcAft>
          </a:pPr>
          <a:endParaRPr lang="en-US" sz="1800" kern="1200" dirty="0">
            <a:latin typeface="Times New Roman" panose="02020603050405020304" pitchFamily="18" charset="0"/>
            <a:cs typeface="Times New Roman" panose="02020603050405020304" pitchFamily="18" charset="0"/>
          </a:endParaRPr>
        </a:p>
        <a:p>
          <a:pPr lvl="0" algn="l" defTabSz="800100">
            <a:lnSpc>
              <a:spcPct val="90000"/>
            </a:lnSpc>
            <a:spcBef>
              <a:spcPct val="0"/>
            </a:spcBef>
            <a:spcAft>
              <a:spcPct val="35000"/>
            </a:spcAft>
          </a:pPr>
          <a:r>
            <a:rPr lang="en-US" sz="1800" kern="1200" dirty="0">
              <a:latin typeface="Times New Roman" panose="02020603050405020304" pitchFamily="18" charset="0"/>
              <a:cs typeface="Times New Roman" panose="02020603050405020304" pitchFamily="18" charset="0"/>
            </a:rPr>
            <a:t>JavaScript, SQL, Database Handling</a:t>
          </a:r>
          <a:endParaRPr lang="en-US" sz="1800" kern="1200" dirty="0">
            <a:latin typeface="Times New Roman" panose="02020603050405020304" pitchFamily="18" charset="0"/>
            <a:cs typeface="Times New Roman" panose="02020603050405020304" pitchFamily="18" charset="0"/>
          </a:endParaRPr>
        </a:p>
      </dsp:txBody>
      <dsp:txXfrm>
        <a:off x="3459718" y="811638"/>
        <a:ext cx="1116055" cy="2637826"/>
      </dsp:txXfrm>
    </dsp:sp>
    <dsp:sp modelId="{00BB3360-A9BB-4051-A4B1-1216F82F642C}">
      <dsp:nvSpPr>
        <dsp:cNvPr id="0" name=""/>
        <dsp:cNvSpPr/>
      </dsp:nvSpPr>
      <dsp:spPr>
        <a:xfrm>
          <a:off x="3297452"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2</a:t>
          </a:r>
          <a:endParaRPr lang="en-US" sz="2000" kern="1200" dirty="0">
            <a:latin typeface="Times New Roman" panose="02020603050405020304" pitchFamily="18" charset="0"/>
            <a:cs typeface="Times New Roman" panose="02020603050405020304" pitchFamily="18" charset="0"/>
          </a:endParaRPr>
        </a:p>
      </dsp:txBody>
      <dsp:txXfrm>
        <a:off x="3297452" y="304364"/>
        <a:ext cx="1278320" cy="507274"/>
      </dsp:txXfrm>
    </dsp:sp>
    <dsp:sp modelId="{A134CDD1-D85F-44EF-8BEE-9F99A855C1E6}">
      <dsp:nvSpPr>
        <dsp:cNvPr id="0" name=""/>
        <dsp:cNvSpPr/>
      </dsp:nvSpPr>
      <dsp:spPr>
        <a:xfrm>
          <a:off x="2019131" y="811638"/>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Core Java, </a:t>
          </a:r>
          <a:r>
            <a:rPr lang="en-US" sz="1800" kern="1200" dirty="0" smtClean="0">
              <a:latin typeface="Times New Roman" panose="02020603050405020304" pitchFamily="18" charset="0"/>
              <a:cs typeface="Times New Roman" panose="02020603050405020304" pitchFamily="18" charset="0"/>
            </a:rPr>
            <a:t>HTML</a:t>
          </a:r>
          <a:r>
            <a:rPr lang="en-US" sz="2000" kern="1200" dirty="0" smtClean="0">
              <a:latin typeface="Times New Roman" panose="02020603050405020304" pitchFamily="18" charset="0"/>
              <a:cs typeface="Times New Roman" panose="02020603050405020304" pitchFamily="18" charset="0"/>
            </a:rPr>
            <a:t>, CSS basics</a:t>
          </a:r>
          <a:endParaRPr lang="en-US" sz="2000" kern="1200" dirty="0">
            <a:latin typeface="Times New Roman" panose="02020603050405020304" pitchFamily="18" charset="0"/>
            <a:cs typeface="Times New Roman" panose="02020603050405020304" pitchFamily="18" charset="0"/>
          </a:endParaRPr>
        </a:p>
      </dsp:txBody>
      <dsp:txXfrm>
        <a:off x="2181397" y="811638"/>
        <a:ext cx="1116055" cy="2434917"/>
      </dsp:txXfrm>
    </dsp:sp>
    <dsp:sp modelId="{65257024-FAC0-4522-B139-1CC85B547BE8}">
      <dsp:nvSpPr>
        <dsp:cNvPr id="0" name=""/>
        <dsp:cNvSpPr/>
      </dsp:nvSpPr>
      <dsp:spPr>
        <a:xfrm>
          <a:off x="2019131"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1</a:t>
          </a:r>
          <a:endParaRPr lang="en-US" sz="2000" kern="1200" dirty="0">
            <a:latin typeface="Times New Roman" panose="02020603050405020304" pitchFamily="18" charset="0"/>
            <a:cs typeface="Times New Roman" panose="02020603050405020304" pitchFamily="18" charset="0"/>
          </a:endParaRPr>
        </a:p>
      </dsp:txBody>
      <dsp:txXfrm>
        <a:off x="2019131"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12/01/2026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12-01-2026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12-01-2026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12-01-2026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12-01-2026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12-01-2026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12-01-2026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12-01-2026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12-01-2026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12-01-2026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12-01-2026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12-01-2026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12-01-2026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hyperlink" Target="mailto:https://github.com/135Deepak"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174377" y="2109718"/>
            <a:ext cx="5865292"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Ms. Poonam </a:t>
            </a:r>
            <a:r>
              <a:rPr lang="en-GB" sz="1700" b="1" i="0" u="none" strike="noStrike" cap="none" dirty="0" err="1" smtClean="0">
                <a:latin typeface="Cambria" panose="02040503050406030204" pitchFamily="18" charset="0"/>
                <a:ea typeface="Cambria" panose="02040503050406030204" pitchFamily="18" charset="0"/>
                <a:cs typeface="Verdana"/>
                <a:sym typeface="Verdana"/>
              </a:rPr>
              <a:t>Nilesh</a:t>
            </a:r>
            <a:r>
              <a:rPr lang="en-GB" sz="1700" b="1" i="0" u="none" strike="noStrike" cap="none" dirty="0" smtClean="0">
                <a:latin typeface="Cambria" panose="02040503050406030204" pitchFamily="18" charset="0"/>
                <a:ea typeface="Cambria" panose="02040503050406030204" pitchFamily="18" charset="0"/>
                <a:cs typeface="Verdana"/>
                <a:sym typeface="Verdana"/>
              </a:rPr>
              <a:t> Yadav</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Assistant </a:t>
            </a:r>
            <a:r>
              <a:rPr lang="en-GB" sz="1700" b="1" i="0" u="none" strike="noStrike" cap="none" dirty="0">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Presidency School </a:t>
            </a:r>
            <a:r>
              <a:rPr lang="en-GB" sz="1700" b="1" i="0" u="none" strike="noStrike" cap="none" dirty="0">
                <a:latin typeface="Cambria" panose="02040503050406030204" pitchFamily="18" charset="0"/>
                <a:ea typeface="Cambria" panose="02040503050406030204" pitchFamily="18" charset="0"/>
                <a:cs typeface="Verdana"/>
                <a:sym typeface="Verdana"/>
              </a:rPr>
              <a:t>of </a:t>
            </a:r>
            <a:r>
              <a:rPr lang="en-GB" sz="1700" b="1" i="0" u="none" strike="noStrike" cap="none" dirty="0" smtClean="0">
                <a:latin typeface="Cambria" panose="02040503050406030204" pitchFamily="18" charset="0"/>
                <a:ea typeface="Cambria" panose="02040503050406030204" pitchFamily="18" charset="0"/>
                <a:cs typeface="Verdana"/>
                <a:sym typeface="Verdana"/>
              </a:rPr>
              <a:t>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smtClean="0">
                <a:latin typeface="Cambria" panose="02040503050406030204" pitchFamily="18" charset="0"/>
                <a:ea typeface="Cambria" panose="02040503050406030204" pitchFamily="18" charset="0"/>
                <a:cs typeface="Verdana"/>
                <a:sym typeface="Verdana"/>
              </a:rPr>
              <a:t>Name of the Program: B Tech Computer Science and Engineering (AI and ML)</a:t>
            </a:r>
          </a:p>
          <a:p>
            <a:pPr marL="0" marR="0" lvl="0" indent="0" rtl="0">
              <a:spcBef>
                <a:spcPts val="0"/>
              </a:spcBef>
              <a:spcAft>
                <a:spcPts val="0"/>
              </a:spcAft>
              <a:buClr>
                <a:srgbClr val="17365D"/>
              </a:buClr>
              <a:buSzPct val="100000"/>
              <a:buFont typeface="Arial"/>
              <a:buNone/>
            </a:pPr>
            <a:r>
              <a:rPr lang="en-US" sz="2000" b="1" dirty="0" smtClean="0">
                <a:latin typeface="Cambria" panose="02040503050406030204" pitchFamily="18" charset="0"/>
                <a:ea typeface="Cambria" panose="02040503050406030204" pitchFamily="18" charset="0"/>
                <a:cs typeface="Verdana"/>
                <a:sym typeface="Verdana"/>
              </a:rPr>
              <a:t>Name </a:t>
            </a:r>
            <a:r>
              <a:rPr lang="en-US" sz="2000" b="1" dirty="0" smtClean="0">
                <a:latin typeface="Cambria" panose="02040503050406030204" pitchFamily="18" charset="0"/>
                <a:ea typeface="Cambria" panose="02040503050406030204" pitchFamily="18" charset="0"/>
                <a:cs typeface="Verdana"/>
                <a:sym typeface="Verdana"/>
              </a:rPr>
              <a:t>of the HoD: </a:t>
            </a:r>
            <a:r>
              <a:rPr lang="en-US" sz="2000" b="1" dirty="0" smtClean="0">
                <a:latin typeface="Cambria" panose="02040503050406030204" pitchFamily="18" charset="0"/>
                <a:ea typeface="Cambria" panose="02040503050406030204" pitchFamily="18" charset="0"/>
                <a:cs typeface="Verdana"/>
                <a:sym typeface="Verdana"/>
              </a:rPr>
              <a:t>Dr. Zafar Ali Khan</a:t>
            </a:r>
            <a:endParaRPr lang="en-US" sz="2000" b="1" dirty="0" smtClean="0">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i="0" u="none" strike="noStrike" cap="none" dirty="0" smtClean="0">
                <a:latin typeface="Cambria" panose="02040503050406030204" pitchFamily="18" charset="0"/>
                <a:ea typeface="Cambria" panose="02040503050406030204" pitchFamily="18" charset="0"/>
                <a:cs typeface="Verdana"/>
                <a:sym typeface="Verdana"/>
              </a:rPr>
              <a:t>Name of the Program Internship Coordinator: </a:t>
            </a:r>
            <a:r>
              <a:rPr lang="en-US" sz="2000" b="1" i="0" u="none" strike="noStrike" cap="none" dirty="0" smtClean="0">
                <a:latin typeface="Cambria" panose="02040503050406030204" pitchFamily="18" charset="0"/>
                <a:ea typeface="Cambria" panose="02040503050406030204" pitchFamily="18" charset="0"/>
                <a:cs typeface="Verdana"/>
                <a:sym typeface="Verdana"/>
              </a:rPr>
              <a:t>Mr. </a:t>
            </a:r>
            <a:r>
              <a:rPr lang="en-US" sz="2000" b="1" i="0" u="none" strike="noStrike" cap="none" dirty="0" err="1" smtClean="0">
                <a:latin typeface="Cambria" panose="02040503050406030204" pitchFamily="18" charset="0"/>
                <a:ea typeface="Cambria" panose="02040503050406030204" pitchFamily="18" charset="0"/>
                <a:cs typeface="Verdana"/>
                <a:sym typeface="Verdana"/>
              </a:rPr>
              <a:t>Anandan</a:t>
            </a:r>
            <a:r>
              <a:rPr lang="en-US" sz="2000" b="1" i="0" u="none" strike="noStrike" cap="none" dirty="0" smtClean="0">
                <a:latin typeface="Cambria" panose="02040503050406030204" pitchFamily="18" charset="0"/>
                <a:ea typeface="Cambria" panose="02040503050406030204" pitchFamily="18" charset="0"/>
                <a:cs typeface="Verdana"/>
                <a:sym typeface="Verdana"/>
              </a:rPr>
              <a:t> </a:t>
            </a:r>
            <a:r>
              <a:rPr lang="en-US" sz="2000" b="1" i="0" u="none" strike="noStrike" cap="none" dirty="0" err="1" smtClean="0">
                <a:latin typeface="Cambria" panose="02040503050406030204" pitchFamily="18" charset="0"/>
                <a:ea typeface="Cambria" panose="02040503050406030204" pitchFamily="18" charset="0"/>
                <a:cs typeface="Verdana"/>
                <a:sym typeface="Verdana"/>
              </a:rPr>
              <a:t>Bellie</a:t>
            </a:r>
            <a:endParaRPr lang="en-US" sz="2000" b="1" i="0" u="none" strike="noStrike" cap="none" dirty="0" smtClean="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Name of the </a:t>
            </a:r>
            <a:r>
              <a:rPr lang="en-US" sz="2000" b="1" dirty="0" smtClean="0">
                <a:latin typeface="Cambria" panose="02040503050406030204" pitchFamily="18" charset="0"/>
                <a:ea typeface="Cambria" panose="02040503050406030204" pitchFamily="18" charset="0"/>
                <a:cs typeface="Verdana"/>
                <a:sym typeface="Verdana"/>
              </a:rPr>
              <a:t>School Internship Coordinator: </a:t>
            </a:r>
            <a:r>
              <a:rPr lang="en-US" sz="2000" b="1" dirty="0">
                <a:latin typeface="Cambria" panose="02040503050406030204" pitchFamily="18" charset="0"/>
                <a:ea typeface="Cambria" panose="02040503050406030204" pitchFamily="18" charset="0"/>
                <a:cs typeface="Verdana"/>
                <a:sym typeface="Verdana"/>
              </a:rPr>
              <a:t>D</a:t>
            </a:r>
            <a:r>
              <a:rPr lang="en-US" sz="2000" b="1" dirty="0" smtClean="0">
                <a:latin typeface="Cambria" panose="02040503050406030204" pitchFamily="18" charset="0"/>
                <a:ea typeface="Cambria" panose="02040503050406030204" pitchFamily="18" charset="0"/>
                <a:cs typeface="Verdana"/>
                <a:sym typeface="Verdana"/>
              </a:rPr>
              <a:t>r</a:t>
            </a:r>
            <a:r>
              <a:rPr lang="en-US" sz="2000" b="1" dirty="0">
                <a:latin typeface="Cambria" panose="02040503050406030204" pitchFamily="18" charset="0"/>
                <a:ea typeface="Cambria" panose="02040503050406030204" pitchFamily="18" charset="0"/>
                <a:cs typeface="Verdana"/>
                <a:sym typeface="Verdana"/>
              </a:rPr>
              <a:t>. Md Ziaur </a:t>
            </a:r>
            <a:r>
              <a:rPr lang="en-US" sz="2000" b="1" dirty="0" smtClean="0">
                <a:latin typeface="Cambria" panose="02040503050406030204" pitchFamily="18" charset="0"/>
                <a:ea typeface="Cambria" panose="02040503050406030204" pitchFamily="18" charset="0"/>
                <a:cs typeface="Verdana"/>
                <a:sym typeface="Verdana"/>
              </a:rPr>
              <a:t>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													</a:t>
            </a:r>
            <a:endParaRPr sz="2000" b="1" i="0" u="none" strike="noStrike" cap="none" dirty="0">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smtClean="0">
                <a:solidFill>
                  <a:schemeClr val="tx1"/>
                </a:solidFill>
                <a:latin typeface="Times New Roman" panose="02020603050405020304" pitchFamily="18" charset="0"/>
                <a:cs typeface="Times New Roman" panose="02020603050405020304" pitchFamily="18" charset="0"/>
              </a:rPr>
              <a:t>CSE7302 - INTERNSHIP</a:t>
            </a:r>
            <a:r>
              <a:rPr lang="en-IN" dirty="0" smtClean="0">
                <a:solidFill>
                  <a:schemeClr val="tx1"/>
                </a:solidFill>
                <a:latin typeface="Times New Roman" panose="02020603050405020304" pitchFamily="18" charset="0"/>
                <a:cs typeface="Times New Roman" panose="02020603050405020304" pitchFamily="18" charset="0"/>
              </a:rPr>
              <a:t/>
            </a:r>
            <a:br>
              <a:rPr lang="en-IN"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t>Review-1 Presentation </a:t>
            </a:r>
            <a:b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br>
            <a:r>
              <a:rPr lang="en-IN" sz="2400" dirty="0">
                <a:solidFill>
                  <a:schemeClr val="tx1"/>
                </a:solidFill>
                <a:latin typeface="Times New Roman" panose="02020603050405020304" pitchFamily="18" charset="0"/>
                <a:cs typeface="Times New Roman" panose="02020603050405020304" pitchFamily="18" charset="0"/>
              </a:rPr>
              <a:t>Software </a:t>
            </a:r>
            <a:r>
              <a:rPr lang="en-IN" sz="2400" dirty="0" smtClean="0">
                <a:solidFill>
                  <a:schemeClr val="tx1"/>
                </a:solidFill>
                <a:latin typeface="Times New Roman" panose="02020603050405020304" pitchFamily="18" charset="0"/>
                <a:cs typeface="Times New Roman" panose="02020603050405020304" pitchFamily="18" charset="0"/>
              </a:rPr>
              <a:t>Development Intern</a:t>
            </a:r>
            <a:endParaRPr lang="en-US"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941530040"/>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DEEPAK M</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20221CAI0135</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82550948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8CAI-03</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About Company or </a:t>
            </a:r>
            <a:r>
              <a:rPr lang="en-US" sz="2000" b="1" dirty="0" smtClean="0">
                <a:latin typeface="Times New Roman" panose="02020603050405020304" pitchFamily="18" charset="0"/>
                <a:cs typeface="Times New Roman" panose="02020603050405020304" pitchFamily="18" charset="0"/>
              </a:rPr>
              <a:t>Organization</a:t>
            </a:r>
          </a:p>
          <a:p>
            <a:pPr marL="495300" indent="-342900" algn="just">
              <a:lnSpc>
                <a:spcPct val="2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Working domain or the technology</a:t>
            </a:r>
            <a:endParaRPr lang="en-US" sz="2000"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About your team and reporting Manager</a:t>
            </a:r>
            <a:endParaRPr lang="en-US" sz="2000"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Challenges Faced in Internship</a:t>
            </a:r>
            <a:endParaRPr lang="en-US" sz="2000"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Objectives of the </a:t>
            </a:r>
            <a:r>
              <a:rPr lang="en-IN" sz="2000" b="1" dirty="0" smtClean="0">
                <a:latin typeface="Times New Roman" panose="02020603050405020304" pitchFamily="18" charset="0"/>
                <a:cs typeface="Times New Roman" panose="02020603050405020304" pitchFamily="18" charset="0"/>
              </a:rPr>
              <a:t>work</a:t>
            </a:r>
          </a:p>
          <a:p>
            <a:pPr marL="495300" indent="-342900" algn="just">
              <a:lnSpc>
                <a:spcPct val="200000"/>
              </a:lnSpc>
              <a:spcBef>
                <a:spcPts val="0"/>
              </a:spcBef>
              <a:buFont typeface="Wingdings" panose="05000000000000000000" pitchFamily="2" charset="2"/>
              <a:buChar char="Ø"/>
            </a:pPr>
            <a:r>
              <a:rPr lang="en-IN" sz="2000" b="1" dirty="0" smtClean="0">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000" b="1" dirty="0" smtClean="0">
                <a:latin typeface="Times New Roman" panose="02020603050405020304" pitchFamily="18" charset="0"/>
                <a:cs typeface="Times New Roman" panose="02020603050405020304" pitchFamily="18" charset="0"/>
              </a:rPr>
              <a:t>Github Link</a:t>
            </a:r>
            <a:endParaRPr lang="en-US" sz="2000"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smtClean="0">
                <a:latin typeface="Times New Roman" panose="02020603050405020304" pitchFamily="18" charset="0"/>
                <a:cs typeface="Times New Roman" panose="02020603050405020304" pitchFamily="18" charset="0"/>
              </a:rPr>
              <a:t>About Company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5031"/>
            <a:ext cx="10515600" cy="4193176"/>
          </a:xfrm>
        </p:spPr>
        <p:txBody>
          <a:bodyPr>
            <a:normAutofit fontScale="92500" lnSpcReduction="10000"/>
          </a:bodyPr>
          <a:lstStyle/>
          <a:p>
            <a:pPr algn="just"/>
            <a:r>
              <a:rPr lang="en-US" sz="2600" b="1" dirty="0">
                <a:latin typeface="Times New Roman" panose="02020603050405020304" pitchFamily="18" charset="0"/>
                <a:cs typeface="Times New Roman" panose="02020603050405020304" pitchFamily="18" charset="0"/>
              </a:rPr>
              <a:t>TAP Academy </a:t>
            </a:r>
            <a:r>
              <a:rPr lang="en-US" sz="2600" dirty="0">
                <a:latin typeface="Times New Roman" panose="02020603050405020304" pitchFamily="18" charset="0"/>
                <a:cs typeface="Times New Roman" panose="02020603050405020304" pitchFamily="18" charset="0"/>
              </a:rPr>
              <a:t>is a Bengaluru-based professional training and placement </a:t>
            </a:r>
            <a:r>
              <a:rPr lang="en-US" sz="2600" dirty="0" err="1" smtClean="0">
                <a:latin typeface="Times New Roman" panose="02020603050405020304" pitchFamily="18" charset="0"/>
                <a:cs typeface="Times New Roman" panose="02020603050405020304" pitchFamily="18" charset="0"/>
              </a:rPr>
              <a:t>organisation</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that focuses on transforming engineering students into industry-ready software professionals. The institution provides structured training programs in software development, real-time project exposure, and placement preparation</a:t>
            </a:r>
            <a:r>
              <a:rPr lang="en-US" sz="2600" dirty="0" smtClean="0">
                <a:latin typeface="Times New Roman" panose="02020603050405020304" pitchFamily="18" charset="0"/>
                <a:cs typeface="Times New Roman" panose="02020603050405020304" pitchFamily="18" charset="0"/>
              </a:rPr>
              <a:t>.</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b="1" dirty="0">
                <a:latin typeface="Times New Roman" panose="02020603050405020304" pitchFamily="18" charset="0"/>
                <a:cs typeface="Times New Roman" panose="02020603050405020304" pitchFamily="18" charset="0"/>
              </a:rPr>
              <a:t>TAP Academy </a:t>
            </a:r>
            <a:r>
              <a:rPr lang="en-US" sz="2600" dirty="0">
                <a:latin typeface="Times New Roman" panose="02020603050405020304" pitchFamily="18" charset="0"/>
                <a:cs typeface="Times New Roman" panose="02020603050405020304" pitchFamily="18" charset="0"/>
              </a:rPr>
              <a:t>works closely with corporate partners and IT companies to bridge the gap between academic knowledge and industrial requirements. Their Campus to Corporate (C2C) Internship Program equips students with both technical skills and workplace discipline, ensuring better employability after </a:t>
            </a:r>
            <a:r>
              <a:rPr lang="en-US" sz="2600" dirty="0" smtClean="0">
                <a:latin typeface="Times New Roman" panose="02020603050405020304" pitchFamily="18" charset="0"/>
                <a:cs typeface="Times New Roman" panose="02020603050405020304" pitchFamily="18" charset="0"/>
              </a:rPr>
              <a:t>graduation.</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The </a:t>
            </a:r>
            <a:r>
              <a:rPr lang="en-US" sz="2600" dirty="0" err="1" smtClean="0">
                <a:latin typeface="Times New Roman" panose="02020603050405020304" pitchFamily="18" charset="0"/>
                <a:cs typeface="Times New Roman" panose="02020603050405020304" pitchFamily="18" charset="0"/>
              </a:rPr>
              <a:t>organisation</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also </a:t>
            </a:r>
            <a:r>
              <a:rPr lang="en-US" sz="2600" dirty="0" err="1" smtClean="0">
                <a:latin typeface="Times New Roman" panose="02020603050405020304" pitchFamily="18" charset="0"/>
                <a:cs typeface="Times New Roman" panose="02020603050405020304" pitchFamily="18" charset="0"/>
              </a:rPr>
              <a:t>emphasises</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emerging technologies such as AI-assisted development and modern software frameworks, making students future-ready.</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Working </a:t>
            </a:r>
            <a:r>
              <a:rPr lang="en-IN" sz="3200" b="1" dirty="0" smtClean="0">
                <a:latin typeface="Times New Roman" panose="02020603050405020304" pitchFamily="18" charset="0"/>
                <a:cs typeface="Times New Roman" panose="02020603050405020304" pitchFamily="18" charset="0"/>
              </a:rPr>
              <a:t>domain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My internship domain is </a:t>
            </a:r>
            <a:r>
              <a:rPr lang="en-US" sz="2400" b="1" dirty="0">
                <a:latin typeface="Times New Roman" panose="02020603050405020304" pitchFamily="18" charset="0"/>
                <a:cs typeface="Times New Roman" panose="02020603050405020304" pitchFamily="18" charset="0"/>
              </a:rPr>
              <a:t>Software Development</a:t>
            </a:r>
            <a:r>
              <a:rPr lang="en-US" sz="2400" dirty="0">
                <a:latin typeface="Times New Roman" panose="02020603050405020304" pitchFamily="18" charset="0"/>
                <a:cs typeface="Times New Roman" panose="02020603050405020304" pitchFamily="18" charset="0"/>
              </a:rPr>
              <a:t> with </a:t>
            </a:r>
            <a:r>
              <a:rPr lang="en-US" sz="2400" dirty="0" err="1" smtClean="0">
                <a:latin typeface="Times New Roman" panose="02020603050405020304" pitchFamily="18" charset="0"/>
                <a:cs typeface="Times New Roman" panose="02020603050405020304" pitchFamily="18" charset="0"/>
              </a:rPr>
              <a:t>specialisation</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a:t>
            </a:r>
            <a:r>
              <a:rPr lang="en-US" sz="2400" b="1" dirty="0">
                <a:latin typeface="Times New Roman" panose="02020603050405020304" pitchFamily="18" charset="0"/>
                <a:cs typeface="Times New Roman" panose="02020603050405020304" pitchFamily="18" charset="0"/>
              </a:rPr>
              <a:t>Full Stack Web Development and AI-Agentic Coding</a:t>
            </a:r>
            <a:r>
              <a:rPr lang="en-US" sz="2400" dirty="0">
                <a:latin typeface="Times New Roman" panose="02020603050405020304" pitchFamily="18" charset="0"/>
                <a:cs typeface="Times New Roman" panose="02020603050405020304" pitchFamily="18" charset="0"/>
              </a:rPr>
              <a:t>.</a:t>
            </a:r>
          </a:p>
          <a:p>
            <a:pPr marL="0" indent="0" algn="just">
              <a:buNone/>
            </a:pPr>
            <a:r>
              <a:rPr lang="en-US" sz="2400" dirty="0">
                <a:latin typeface="Times New Roman" panose="02020603050405020304" pitchFamily="18" charset="0"/>
                <a:cs typeface="Times New Roman" panose="02020603050405020304" pitchFamily="18" charset="0"/>
              </a:rPr>
              <a:t>The domain includes working on:</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Core Java programming</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Front-end development using HTML, CSS, and JavaScript</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Database handling using SQL</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Understanding software life cycle models</a:t>
            </a:r>
          </a:p>
          <a:p>
            <a:pPr lvl="1" algn="just">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Introduction </a:t>
            </a:r>
            <a:r>
              <a:rPr lang="en-US" sz="2000" dirty="0">
                <a:latin typeface="Times New Roman" panose="02020603050405020304" pitchFamily="18" charset="0"/>
                <a:cs typeface="Times New Roman" panose="02020603050405020304" pitchFamily="18" charset="0"/>
              </a:rPr>
              <a:t>to AI-assisted development </a:t>
            </a:r>
            <a:r>
              <a:rPr lang="en-US" sz="2000" dirty="0" smtClean="0">
                <a:latin typeface="Times New Roman" panose="02020603050405020304" pitchFamily="18" charset="0"/>
                <a:cs typeface="Times New Roman" panose="02020603050405020304" pitchFamily="18" charset="0"/>
              </a:rPr>
              <a:t>tools</a:t>
            </a:r>
          </a:p>
          <a:p>
            <a:pPr marL="457200" lvl="1"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This domain is important because it trains students to build real-time web applications, follow coding standards, and understand how professional development teams work in the IT industry.</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About your team and reporting Manager</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a:bodyPr>
          <a:lstStyle/>
          <a:p>
            <a:pPr algn="just"/>
            <a:r>
              <a:rPr lang="en-US" sz="2400" dirty="0">
                <a:latin typeface="Times New Roman" panose="02020603050405020304" pitchFamily="18" charset="0"/>
                <a:cs typeface="Times New Roman" panose="02020603050405020304" pitchFamily="18" charset="0"/>
              </a:rPr>
              <a:t>I am part of the </a:t>
            </a:r>
            <a:r>
              <a:rPr lang="en-US" sz="2400" b="1" dirty="0">
                <a:latin typeface="Times New Roman" panose="02020603050405020304" pitchFamily="18" charset="0"/>
                <a:cs typeface="Times New Roman" panose="02020603050405020304" pitchFamily="18" charset="0"/>
              </a:rPr>
              <a:t>Campus to Corporate Internship Batch</a:t>
            </a:r>
            <a:r>
              <a:rPr lang="en-US" sz="2400" dirty="0">
                <a:latin typeface="Times New Roman" panose="02020603050405020304" pitchFamily="18" charset="0"/>
                <a:cs typeface="Times New Roman" panose="02020603050405020304" pitchFamily="18" charset="0"/>
              </a:rPr>
              <a:t> at TAP Academy. The team consists of interns from different engineering streams working under experienced technical trainers and mentors.</a:t>
            </a:r>
          </a:p>
          <a:p>
            <a:pPr algn="just"/>
            <a:r>
              <a:rPr lang="en-US" sz="2400" dirty="0">
                <a:latin typeface="Times New Roman" panose="02020603050405020304" pitchFamily="18" charset="0"/>
                <a:cs typeface="Times New Roman" panose="02020603050405020304" pitchFamily="18" charset="0"/>
              </a:rPr>
              <a:t>My reporting authority includes senior trainers who guide us in daily tasks, code reviews, module assessments, and project activities. All learning modules and projects are monitored regularly to ensure quality and consistency in performance.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a:latin typeface="Times New Roman" panose="02020603050405020304" pitchFamily="18" charset="0"/>
                <a:cs typeface="Times New Roman" panose="02020603050405020304" pitchFamily="18" charset="0"/>
              </a:rPr>
              <a:t>The major challenges faced during the internship include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Understanding industry-level coding standards</a:t>
            </a:r>
          </a:p>
          <a:p>
            <a:pPr lvl="1"/>
            <a:r>
              <a:rPr lang="en-US" dirty="0">
                <a:latin typeface="Times New Roman" panose="02020603050405020304" pitchFamily="18" charset="0"/>
                <a:cs typeface="Times New Roman" panose="02020603050405020304" pitchFamily="18" charset="0"/>
              </a:rPr>
              <a:t>Adjusting to a disciplined corporate training schedule</a:t>
            </a:r>
          </a:p>
          <a:p>
            <a:pPr lvl="1"/>
            <a:r>
              <a:rPr lang="en-US" dirty="0">
                <a:latin typeface="Times New Roman" panose="02020603050405020304" pitchFamily="18" charset="0"/>
                <a:cs typeface="Times New Roman" panose="02020603050405020304" pitchFamily="18" charset="0"/>
              </a:rPr>
              <a:t>Managing multiple technical modules within limited time</a:t>
            </a:r>
          </a:p>
          <a:p>
            <a:pPr lvl="1"/>
            <a:r>
              <a:rPr lang="en-US" dirty="0">
                <a:latin typeface="Times New Roman" panose="02020603050405020304" pitchFamily="18" charset="0"/>
                <a:cs typeface="Times New Roman" panose="02020603050405020304" pitchFamily="18" charset="0"/>
              </a:rPr>
              <a:t>Learning new tools and development environments</a:t>
            </a:r>
          </a:p>
          <a:p>
            <a:pPr lvl="1"/>
            <a:r>
              <a:rPr lang="en-US" dirty="0">
                <a:latin typeface="Times New Roman" panose="02020603050405020304" pitchFamily="18" charset="0"/>
                <a:cs typeface="Times New Roman" panose="02020603050405020304" pitchFamily="18" charset="0"/>
              </a:rPr>
              <a:t>Maintaining consistency in daily </a:t>
            </a:r>
            <a:r>
              <a:rPr lang="en-US" dirty="0" smtClean="0">
                <a:latin typeface="Times New Roman" panose="02020603050405020304" pitchFamily="18" charset="0"/>
                <a:cs typeface="Times New Roman" panose="02020603050405020304" pitchFamily="18" charset="0"/>
              </a:rPr>
              <a:t>evaluations</a:t>
            </a:r>
          </a:p>
          <a:p>
            <a:pPr marL="0" indent="0">
              <a:buNone/>
            </a:pPr>
            <a:r>
              <a:rPr lang="en-US" dirty="0">
                <a:latin typeface="Times New Roman" panose="02020603050405020304" pitchFamily="18" charset="0"/>
                <a:cs typeface="Times New Roman" panose="02020603050405020304" pitchFamily="18" charset="0"/>
              </a:rPr>
              <a:t>These challenges helped me develop time-management skills, adaptability, and professional discipline.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Objectives of the work</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a:latin typeface="Times New Roman" panose="02020603050405020304" pitchFamily="18" charset="0"/>
                <a:cs typeface="Times New Roman" panose="02020603050405020304" pitchFamily="18" charset="0"/>
              </a:rPr>
              <a:t>The main objectives of my internship are:</a:t>
            </a:r>
          </a:p>
          <a:p>
            <a:pPr lvl="1"/>
            <a:r>
              <a:rPr lang="en-US" dirty="0">
                <a:latin typeface="Times New Roman" panose="02020603050405020304" pitchFamily="18" charset="0"/>
                <a:cs typeface="Times New Roman" panose="02020603050405020304" pitchFamily="18" charset="0"/>
              </a:rPr>
              <a:t>To gain real-world software development experience</a:t>
            </a:r>
          </a:p>
          <a:p>
            <a:pPr lvl="1"/>
            <a:r>
              <a:rPr lang="en-US" dirty="0">
                <a:latin typeface="Times New Roman" panose="02020603050405020304" pitchFamily="18" charset="0"/>
                <a:cs typeface="Times New Roman" panose="02020603050405020304" pitchFamily="18" charset="0"/>
              </a:rPr>
              <a:t>To improve logical thinking and coding practices</a:t>
            </a:r>
          </a:p>
          <a:p>
            <a:pPr lvl="1"/>
            <a:r>
              <a:rPr lang="en-US" dirty="0">
                <a:latin typeface="Times New Roman" panose="02020603050405020304" pitchFamily="18" charset="0"/>
                <a:cs typeface="Times New Roman" panose="02020603050405020304" pitchFamily="18" charset="0"/>
              </a:rPr>
              <a:t>To understand the software development life cycle</a:t>
            </a:r>
          </a:p>
          <a:p>
            <a:pPr lvl="1"/>
            <a:r>
              <a:rPr lang="en-US" dirty="0">
                <a:latin typeface="Times New Roman" panose="02020603050405020304" pitchFamily="18" charset="0"/>
                <a:cs typeface="Times New Roman" panose="02020603050405020304" pitchFamily="18" charset="0"/>
              </a:rPr>
              <a:t>To build full-stack web applications</a:t>
            </a:r>
          </a:p>
          <a:p>
            <a:pPr lvl="1"/>
            <a:r>
              <a:rPr lang="en-US" dirty="0">
                <a:latin typeface="Times New Roman" panose="02020603050405020304" pitchFamily="18" charset="0"/>
                <a:cs typeface="Times New Roman" panose="02020603050405020304" pitchFamily="18" charset="0"/>
              </a:rPr>
              <a:t>To become placement-ready for corporate IT roles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latin typeface="Times New Roman" panose="02020603050405020304" pitchFamily="18" charset="0"/>
                <a:cs typeface="Times New Roman" panose="02020603050405020304" pitchFamily="18" charset="0"/>
              </a:rPr>
              <a:t>Internship Road Map</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63714855"/>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latin typeface="Times New Roman" panose="02020603050405020304" pitchFamily="18" charset="0"/>
                <a:cs typeface="Times New Roman" panose="02020603050405020304" pitchFamily="18" charset="0"/>
              </a:rPr>
              <a:t>Github Link</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latin typeface="Times New Roman" panose="02020603050405020304" pitchFamily="18" charset="0"/>
                <a:cs typeface="Times New Roman" panose="02020603050405020304" pitchFamily="18" charset="0"/>
                <a:hlinkClick r:id="rId2"/>
              </a:rPr>
              <a:t>https://github.com/135Deepak</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621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smtClean="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smtClean="0">
                <a:solidFill>
                  <a:srgbClr val="FFFF00"/>
                </a:solidFill>
                <a:latin typeface="Times New Roman" panose="02020603050405020304" pitchFamily="18" charset="0"/>
                <a:cs typeface="Times New Roman" panose="02020603050405020304" pitchFamily="18" charset="0"/>
              </a:rPr>
              <a:t> </a:t>
            </a:r>
            <a:r>
              <a:rPr lang="en-US" sz="6600" dirty="0" smtClean="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10</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smtClean="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696605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7054</TotalTime>
  <Words>536</Words>
  <Application>Microsoft Office PowerPoint</Application>
  <PresentationFormat>Widescreen</PresentationFormat>
  <Paragraphs>86</Paragraphs>
  <Slides>11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About Company </vt:lpstr>
      <vt:lpstr>Working domain</vt:lpstr>
      <vt:lpstr>About your team and reporting Manager</vt:lpstr>
      <vt:lpstr>Challenges Faced in Internship</vt:lpstr>
      <vt:lpstr>Objectives of the work</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Dell-15</cp:lastModifiedBy>
  <cp:revision>722</cp:revision>
  <dcterms:created xsi:type="dcterms:W3CDTF">2022-10-14T07:18:17Z</dcterms:created>
  <dcterms:modified xsi:type="dcterms:W3CDTF">2026-01-12T15:47:48Z</dcterms:modified>
</cp:coreProperties>
</file>